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01B20"/>
    <a:srgbClr val="010203"/>
    <a:srgbClr val="BA7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1EB2BF-5735-18E5-DB00-305AA4ACA92D}" v="244" dt="2025-02-18T06:25:14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5401" autoAdjust="0"/>
  </p:normalViewPr>
  <p:slideViewPr>
    <p:cSldViewPr snapToGrid="0">
      <p:cViewPr varScale="1">
        <p:scale>
          <a:sx n="82" d="100"/>
          <a:sy n="82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5C79B-C6DD-43CE-896A-6B1531C1864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015B6-97F9-4AC8-B385-F3FF8FF479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A6558-133F-4062-A463-EE04B80769B8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38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91B6-2597-490D-A270-CA0D36018EA7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2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A114-96F3-4B42-8596-0B5FE68E9E14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13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24F9E-CF1D-45BA-85E5-9446FDA39A95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8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4480-3A0E-48DF-9DFD-7E021AA69D85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69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F514-78CD-4E2C-A99A-2D98F698BD50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41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7F128-F65E-4946-9E1A-4536A3D0653B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62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F201-F481-4B34-AEB5-DECC683939EC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54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47BC3-96B7-486E-A39A-593142A7EDB7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7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3B7A-D269-452D-B554-4FBECBE9ACB4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23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C54B5-4C05-49A7-86EE-2E1CD937868B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5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E8FEF-9BF2-435E-BA87-B6AFFA0BC0A8}" type="datetime1">
              <a:rPr lang="en-IN" smtClean="0"/>
              <a:pPr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901A6-15EF-443B-B467-F48A1127064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93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Anna University Logo PNG vector in SVG, PDF, AI, CDR forma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228"/>
            <a:ext cx="2091254" cy="156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76941" y="311527"/>
            <a:ext cx="60292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ECE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College of Engineering Guindy, Anna University, Chennai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283" y="159228"/>
            <a:ext cx="1415250" cy="16533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311469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Battery Health Monitoring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Predictive Management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340" y="4735269"/>
            <a:ext cx="45686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Members: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Madhavshankar</a:t>
            </a:r>
            <a:r>
              <a:rPr lang="en-US" b="1" dirty="0"/>
              <a:t> K (Reg. No.: 2023105023)</a:t>
            </a:r>
          </a:p>
          <a:p>
            <a:pPr marL="342900" indent="-342900">
              <a:buAutoNum type="arabicPeriod"/>
            </a:pPr>
            <a:r>
              <a:rPr lang="en-US" b="1" dirty="0" err="1"/>
              <a:t>Ragul</a:t>
            </a:r>
            <a:r>
              <a:rPr lang="en-US" b="1" dirty="0"/>
              <a:t> S                     (Reg. No.: 2023105041)</a:t>
            </a:r>
          </a:p>
          <a:p>
            <a:pPr marL="342900" indent="-342900">
              <a:buAutoNum type="arabicPeriod"/>
            </a:pPr>
            <a:r>
              <a:rPr lang="en-US" b="1" dirty="0"/>
              <a:t>Akash Rajan R        (Reg. No.: 2023105508)</a:t>
            </a:r>
          </a:p>
          <a:p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785146" y="1735685"/>
            <a:ext cx="3508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EC23702 – MINI PROJECT </a:t>
            </a:r>
            <a:endParaRPr lang="en-IN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98448" y="2268593"/>
            <a:ext cx="16946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   Review I</a:t>
            </a:r>
          </a:p>
          <a:p>
            <a:r>
              <a:rPr lang="en-US" sz="2400" b="1" dirty="0"/>
              <a:t>07/08/2026</a:t>
            </a:r>
            <a:endParaRPr lang="en-I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452011" y="4735269"/>
            <a:ext cx="306333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Guidance of:</a:t>
            </a:r>
          </a:p>
          <a:p>
            <a:pPr algn="ctr"/>
            <a:endParaRPr lang="en-US" b="1" dirty="0"/>
          </a:p>
          <a:p>
            <a:pPr algn="ctr"/>
            <a:r>
              <a:rPr lang="en-GB" b="1" dirty="0"/>
              <a:t>Dr K Praveen</a:t>
            </a:r>
          </a:p>
          <a:p>
            <a:pPr algn="ctr"/>
            <a:r>
              <a:rPr lang="en-GB" b="1" dirty="0"/>
              <a:t> Assistant Professor (SI. Gr.) </a:t>
            </a:r>
          </a:p>
          <a:p>
            <a:pPr algn="ctr"/>
            <a:r>
              <a:rPr lang="en-US" b="1" dirty="0"/>
              <a:t>Department of ECE</a:t>
            </a:r>
          </a:p>
          <a:p>
            <a:pPr algn="ctr"/>
            <a:r>
              <a:rPr lang="en-US" b="1" dirty="0"/>
              <a:t>CEG Campus, Anna University </a:t>
            </a:r>
          </a:p>
          <a:p>
            <a:pPr algn="ctr"/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40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63888"/>
            <a:ext cx="6971558" cy="54173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63888"/>
            <a:ext cx="6971558" cy="54173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Modern EVs rely on Li-ion battery packs that need continuous monitoring of voltage, current, and temperature to stay safe and efficient.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Commercial low cost BMS units only perform voltage/current monitoring, basic balancing, and overcharge/over-discharge protection.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systems are reactive, they respond only after a fault (overheating, weak cell, leakage) has already occurred.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project aims to make the </a:t>
            </a: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BMS intelligent and predictive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estimating SOC/SOH, predicting thermal rise and weak cells, and optimizing charging/cooling before problems occur.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Scope: sensing → filtering → state estimation → predictive fault diagnosis → adaptive control (cooling, balancing, charging) → cloud/mobile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Lit Revi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511153"/>
              </p:ext>
            </p:extLst>
          </p:nvPr>
        </p:nvGraphicFramePr>
        <p:xfrm>
          <a:off x="365760" y="1250000"/>
          <a:ext cx="8412480" cy="44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Paper Title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Methodology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Inference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0000"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“Passive and Active Battery Balancing Comparison Based on MATLAB Simulation” -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Daowd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, Omar, Van Den Bossche, Van Mierlo (Vrije Universiteit Brussel)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Simulink comparison of passive (resistor-bleed) vs. active (charge-transfer) cell balancing circuits under simulated charge/discharge cycles.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Active balancing gives faster convergence and higher energy efficiency than passive balancing; passive is simpler but wastes energy as heat — guided our choice of adaptive active balancing.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“Improved BMS: A Smart Electric Vehicle Design Based on an Intelligent Battery Management System” - Bhuvaneswari et al., ICICT 2024 (IEEE)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Smart BMS architecture combining real-time sensing with intelligent control logic for improved monitoring and protection in EVs.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Confirms the shift from threshold-based protection to intelligent, sensor-fused decision-making as the key novelty gap in low-cost EV BMS.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000"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“Hierarchical Energy Optimization Strategy and Its Integrated Reliable Battery Fault Management for Hybrid Hydraulic Electric Vehicle” - Kamal &amp; Adouane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Hierarchical control strategy layering energy optimization with fault management for reliability in hybrid electric-hydraulic vehicles.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200" dirty="0">
                          <a:latin typeface="Arial"/>
                          <a:cs typeface="Arial"/>
                        </a:rPr>
                        <a:t>Supports a layered architecture (estimation → fault prediction → control) and reinforces the need for integrated fault management, not just isolated protection triggers.</a:t>
                      </a:r>
                    </a:p>
                  </a:txBody>
                  <a:tcPr marL="45720" marR="4572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8000"/>
            <a:ext cx="8229600" cy="550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Existing low-cost EV BMS units only do voltage/current monitoring, basic balancing, and overcharge/over-discharge protection, they cannot predict failure before it happens.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B01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Cell leakage is detected only after severe degradation; the owner is warned too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late.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B01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Noisy sensor signals cause false SOC, temperature, and balancing readings.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B01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P3 -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Cooling systems run on fixed thresholds, wasting energy.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B01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P4 -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Battery aging is ignored during charging, every cell is charged identically.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B01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P5 -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 predictive maintenance, the owner has no idea which cell is weakening or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when replacement is needed.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B01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P6 -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Most student BMS projects skip thermal-runaway prevention, adaptive cooling,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and health/fault prediction entirely.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bjCard100"/>
          <p:cNvSpPr/>
          <p:nvPr/>
        </p:nvSpPr>
        <p:spPr>
          <a:xfrm>
            <a:off x="457200" y="13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01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Increase overall battery life</a:t>
            </a:r>
          </a:p>
        </p:txBody>
      </p:sp>
      <p:sp>
        <p:nvSpPr>
          <p:cNvPr id="101" name="ObjCard101"/>
          <p:cNvSpPr/>
          <p:nvPr/>
        </p:nvSpPr>
        <p:spPr>
          <a:xfrm>
            <a:off x="3250400" y="13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02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Prevent thermal runaway / explosion</a:t>
            </a:r>
          </a:p>
        </p:txBody>
      </p:sp>
      <p:sp>
        <p:nvSpPr>
          <p:cNvPr id="102" name="ObjCard102"/>
          <p:cNvSpPr/>
          <p:nvPr/>
        </p:nvSpPr>
        <p:spPr>
          <a:xfrm>
            <a:off x="6043600" y="13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03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Reduce energy loss in balancing</a:t>
            </a:r>
          </a:p>
        </p:txBody>
      </p:sp>
      <p:sp>
        <p:nvSpPr>
          <p:cNvPr id="103" name="ObjCard103"/>
          <p:cNvSpPr/>
          <p:nvPr/>
        </p:nvSpPr>
        <p:spPr>
          <a:xfrm>
            <a:off x="457200" y="29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04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Detect weak cells early</a:t>
            </a:r>
          </a:p>
        </p:txBody>
      </p:sp>
      <p:sp>
        <p:nvSpPr>
          <p:cNvPr id="104" name="ObjCard104"/>
          <p:cNvSpPr/>
          <p:nvPr/>
        </p:nvSpPr>
        <p:spPr>
          <a:xfrm>
            <a:off x="3250400" y="29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05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Detect internal leakage</a:t>
            </a:r>
          </a:p>
        </p:txBody>
      </p:sp>
      <p:sp>
        <p:nvSpPr>
          <p:cNvPr id="105" name="ObjCard105"/>
          <p:cNvSpPr/>
          <p:nvPr/>
        </p:nvSpPr>
        <p:spPr>
          <a:xfrm>
            <a:off x="6043600" y="29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06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Optimize charging strategy</a:t>
            </a:r>
          </a:p>
        </p:txBody>
      </p:sp>
      <p:sp>
        <p:nvSpPr>
          <p:cNvPr id="106" name="ObjCard106"/>
          <p:cNvSpPr/>
          <p:nvPr/>
        </p:nvSpPr>
        <p:spPr>
          <a:xfrm>
            <a:off x="457200" y="45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07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Enable adaptive cooling control</a:t>
            </a:r>
          </a:p>
        </p:txBody>
      </p:sp>
      <p:sp>
        <p:nvSpPr>
          <p:cNvPr id="107" name="ObjCard107"/>
          <p:cNvSpPr/>
          <p:nvPr/>
        </p:nvSpPr>
        <p:spPr>
          <a:xfrm>
            <a:off x="3250400" y="45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08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Improve overall system efficiency</a:t>
            </a:r>
          </a:p>
        </p:txBody>
      </p:sp>
      <p:sp>
        <p:nvSpPr>
          <p:cNvPr id="108" name="ObjCard108"/>
          <p:cNvSpPr/>
          <p:nvPr/>
        </p:nvSpPr>
        <p:spPr>
          <a:xfrm>
            <a:off x="6043600" y="4500000"/>
            <a:ext cx="2643200" cy="1450000"/>
          </a:xfrm>
          <a:prstGeom prst="roundRect">
            <a:avLst>
              <a:gd name="adj" fmla="val 6000"/>
            </a:avLst>
          </a:prstGeom>
          <a:solidFill>
            <a:srgbClr val="F5E9EA"/>
          </a:solidFill>
          <a:ln w="12700">
            <a:solidFill>
              <a:srgbClr val="B01B2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B01B20"/>
                </a:solidFill>
                <a:latin typeface="Arial"/>
                <a:cs typeface="Arial"/>
              </a:rPr>
              <a:t>09</a:t>
            </a:r>
          </a:p>
          <a:p>
            <a:pPr algn="l"/>
            <a:r>
              <a:rPr lang="en-US" sz="1300" b="1" dirty="0">
                <a:latin typeface="Arial"/>
                <a:cs typeface="Arial"/>
              </a:rPr>
              <a:t>Predict battery replacement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tage100"/>
          <p:cNvSpPr/>
          <p:nvPr/>
        </p:nvSpPr>
        <p:spPr>
          <a:xfrm>
            <a:off x="400000" y="13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Battery Pack (Voltage / Current / Temp Sensors)</a:t>
            </a:r>
          </a:p>
        </p:txBody>
      </p:sp>
      <p:sp>
        <p:nvSpPr>
          <p:cNvPr id="101" name="Arrow100"/>
          <p:cNvSpPr/>
          <p:nvPr/>
        </p:nvSpPr>
        <p:spPr>
          <a:xfrm>
            <a:off x="2100000" y="2250000"/>
            <a:ext cx="200000" cy="25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age102"/>
          <p:cNvSpPr/>
          <p:nvPr/>
        </p:nvSpPr>
        <p:spPr>
          <a:xfrm>
            <a:off x="400000" y="25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Adaptive EKF Filtering</a:t>
            </a:r>
          </a:p>
        </p:txBody>
      </p:sp>
      <p:sp>
        <p:nvSpPr>
          <p:cNvPr id="103" name="Arrow102"/>
          <p:cNvSpPr/>
          <p:nvPr/>
        </p:nvSpPr>
        <p:spPr>
          <a:xfrm>
            <a:off x="2100000" y="3450000"/>
            <a:ext cx="200000" cy="25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tage104"/>
          <p:cNvSpPr/>
          <p:nvPr/>
        </p:nvSpPr>
        <p:spPr>
          <a:xfrm>
            <a:off x="400000" y="37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SOC / SOH Estimation</a:t>
            </a:r>
          </a:p>
        </p:txBody>
      </p:sp>
      <p:sp>
        <p:nvSpPr>
          <p:cNvPr id="105" name="Arrow104"/>
          <p:cNvSpPr/>
          <p:nvPr/>
        </p:nvSpPr>
        <p:spPr>
          <a:xfrm>
            <a:off x="2100000" y="4650000"/>
            <a:ext cx="200000" cy="25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age106"/>
          <p:cNvSpPr/>
          <p:nvPr/>
        </p:nvSpPr>
        <p:spPr>
          <a:xfrm>
            <a:off x="400000" y="49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Leakage &amp; Weak-Cell Detection</a:t>
            </a:r>
          </a:p>
        </p:txBody>
      </p:sp>
      <p:sp>
        <p:nvSpPr>
          <p:cNvPr id="108" name="Stage108"/>
          <p:cNvSpPr/>
          <p:nvPr/>
        </p:nvSpPr>
        <p:spPr>
          <a:xfrm>
            <a:off x="5150000" y="1300000"/>
            <a:ext cx="3600000" cy="950000"/>
          </a:xfrm>
          <a:prstGeom prst="roundRect">
            <a:avLst>
              <a:gd name="adj" fmla="val 5893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Predictive Thermal Model 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(Temp-rise forecast)</a:t>
            </a:r>
          </a:p>
        </p:txBody>
      </p:sp>
      <p:sp>
        <p:nvSpPr>
          <p:cNvPr id="109" name="Arrow108"/>
          <p:cNvSpPr/>
          <p:nvPr/>
        </p:nvSpPr>
        <p:spPr>
          <a:xfrm>
            <a:off x="6850000" y="2250000"/>
            <a:ext cx="200000" cy="25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tage110"/>
          <p:cNvSpPr/>
          <p:nvPr/>
        </p:nvSpPr>
        <p:spPr>
          <a:xfrm>
            <a:off x="5144002" y="25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Adaptive Cooling &amp; Charging Control</a:t>
            </a:r>
          </a:p>
        </p:txBody>
      </p:sp>
      <p:sp>
        <p:nvSpPr>
          <p:cNvPr id="111" name="Arrow110"/>
          <p:cNvSpPr/>
          <p:nvPr/>
        </p:nvSpPr>
        <p:spPr>
          <a:xfrm>
            <a:off x="6850000" y="3450000"/>
            <a:ext cx="200000" cy="25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age112"/>
          <p:cNvSpPr/>
          <p:nvPr/>
        </p:nvSpPr>
        <p:spPr>
          <a:xfrm>
            <a:off x="5150000" y="37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ML Fault Prediction</a:t>
            </a:r>
          </a:p>
        </p:txBody>
      </p:sp>
      <p:sp>
        <p:nvSpPr>
          <p:cNvPr id="113" name="Arrow112"/>
          <p:cNvSpPr/>
          <p:nvPr/>
        </p:nvSpPr>
        <p:spPr>
          <a:xfrm>
            <a:off x="6850000" y="4650000"/>
            <a:ext cx="200000" cy="25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tage114"/>
          <p:cNvSpPr/>
          <p:nvPr/>
        </p:nvSpPr>
        <p:spPr>
          <a:xfrm>
            <a:off x="5150000" y="4900000"/>
            <a:ext cx="3600000" cy="950000"/>
          </a:xfrm>
          <a:prstGeom prst="roundRect">
            <a:avLst>
              <a:gd name="adj" fmla="val 8000"/>
            </a:avLst>
          </a:prstGeom>
          <a:solidFill>
            <a:srgbClr val="B01B2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Cloud DB + Mobile App Notification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250000"/>
            <a:ext cx="4114800" cy="252093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Simulink model of the Li-ion cell built and validated and electrical behavior replicated ideally in simulation.</a:t>
            </a:r>
          </a:p>
          <a:p>
            <a:pPr>
              <a:lnSpc>
                <a:spcPct val="125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Real-time hardware tests conducted: charge/discharge cycling of 2500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Li-ion cells with a 12 V DC motor of 200 RPM as load.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Current Status &amp; Results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0BBAE9-DF00-418D-9476-12BC8B1C7C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12" y="1250001"/>
            <a:ext cx="4294094" cy="2179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55F355C-D46B-44DF-AC21-8B5C98FB8426}"/>
              </a:ext>
            </a:extLst>
          </p:cNvPr>
          <p:cNvSpPr/>
          <p:nvPr/>
        </p:nvSpPr>
        <p:spPr>
          <a:xfrm>
            <a:off x="5081683" y="3465495"/>
            <a:ext cx="3648634" cy="2689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SOC VS TIME PLOT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FD08B-2BC5-4FD9-B9D0-6BD823243C66}"/>
              </a:ext>
            </a:extLst>
          </p:cNvPr>
          <p:cNvSpPr/>
          <p:nvPr/>
        </p:nvSpPr>
        <p:spPr>
          <a:xfrm>
            <a:off x="4572000" y="3788502"/>
            <a:ext cx="4294094" cy="134745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Lookup (LU) table generated from the test data, now being fed into Simulink to drive a real-time-matched simulation.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14CEE8-D42E-4407-8E13-7D8052191A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53" y="3885479"/>
            <a:ext cx="3980330" cy="23832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CBE2B1F-48F8-473E-8689-E170B6A04C72}"/>
              </a:ext>
            </a:extLst>
          </p:cNvPr>
          <p:cNvSpPr/>
          <p:nvPr/>
        </p:nvSpPr>
        <p:spPr>
          <a:xfrm>
            <a:off x="457201" y="6389737"/>
            <a:ext cx="3966882" cy="26252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TERMINAL VOLTAGE VS TIME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87BF0-2866-05CD-3A99-043346D8C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626" y="4928634"/>
            <a:ext cx="4348065" cy="14953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Current Status &amp; Results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504277D0-6358-4D18-8FD1-2BD470A49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1310640"/>
            <a:ext cx="8384143" cy="4959531"/>
          </a:xfrm>
        </p:spPr>
      </p:pic>
    </p:spTree>
    <p:extLst>
      <p:ext uri="{BB962C8B-B14F-4D97-AF65-F5344CB8AC3E}">
        <p14:creationId xmlns:p14="http://schemas.microsoft.com/office/powerpoint/2010/main" val="163058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1" name="TimelineLine"/>
          <p:cNvCxnSpPr/>
          <p:nvPr/>
        </p:nvCxnSpPr>
        <p:spPr>
          <a:xfrm>
            <a:off x="300000" y="1730000"/>
            <a:ext cx="8544000" cy="0"/>
          </a:xfrm>
          <a:prstGeom prst="line">
            <a:avLst/>
          </a:prstGeom>
          <a:ln w="19050">
            <a:solidFill>
              <a:srgbClr val="B0B0B0"/>
            </a:solidFill>
          </a:ln>
        </p:spPr>
      </p:cxnSp>
      <p:sp>
        <p:nvSpPr>
          <p:cNvPr id="400" name="PhLabel400"/>
          <p:cNvSpPr/>
          <p:nvPr/>
        </p:nvSpPr>
        <p:spPr>
          <a:xfrm>
            <a:off x="300000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2E7D32"/>
                </a:solidFill>
                <a:latin typeface="Arial"/>
                <a:cs typeface="Arial"/>
              </a:rPr>
              <a:t>Ph 1-2</a:t>
            </a:r>
          </a:p>
        </p:txBody>
      </p:sp>
      <p:sp>
        <p:nvSpPr>
          <p:cNvPr id="401" name="PhCard401"/>
          <p:cNvSpPr/>
          <p:nvPr/>
        </p:nvSpPr>
        <p:spPr>
          <a:xfrm>
            <a:off x="300000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2E7D32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Battery fundamental + literature survey</a:t>
            </a:r>
          </a:p>
        </p:txBody>
      </p:sp>
      <p:sp>
        <p:nvSpPr>
          <p:cNvPr id="402" name="PhStatus402"/>
          <p:cNvSpPr/>
          <p:nvPr/>
        </p:nvSpPr>
        <p:spPr>
          <a:xfrm>
            <a:off x="391440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Done</a:t>
            </a:r>
          </a:p>
        </p:txBody>
      </p:sp>
      <p:sp>
        <p:nvSpPr>
          <p:cNvPr id="403" name="PhLabel403"/>
          <p:cNvSpPr/>
          <p:nvPr/>
        </p:nvSpPr>
        <p:spPr>
          <a:xfrm>
            <a:off x="1537714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2E7D32"/>
                </a:solidFill>
                <a:latin typeface="Arial"/>
                <a:cs typeface="Arial"/>
              </a:rPr>
              <a:t>Ph 3</a:t>
            </a:r>
          </a:p>
        </p:txBody>
      </p:sp>
      <p:sp>
        <p:nvSpPr>
          <p:cNvPr id="404" name="PhCard404"/>
          <p:cNvSpPr/>
          <p:nvPr/>
        </p:nvSpPr>
        <p:spPr>
          <a:xfrm>
            <a:off x="1537714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2E7D32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Simulink battery model (ideal)</a:t>
            </a:r>
          </a:p>
        </p:txBody>
      </p:sp>
      <p:sp>
        <p:nvSpPr>
          <p:cNvPr id="405" name="PhStatus405"/>
          <p:cNvSpPr/>
          <p:nvPr/>
        </p:nvSpPr>
        <p:spPr>
          <a:xfrm>
            <a:off x="1629154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Done</a:t>
            </a:r>
          </a:p>
        </p:txBody>
      </p:sp>
      <p:sp>
        <p:nvSpPr>
          <p:cNvPr id="406" name="PhLabel406"/>
          <p:cNvSpPr/>
          <p:nvPr/>
        </p:nvSpPr>
        <p:spPr>
          <a:xfrm>
            <a:off x="2775428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2E7D32"/>
                </a:solidFill>
                <a:latin typeface="Arial"/>
                <a:cs typeface="Arial"/>
              </a:rPr>
              <a:t>Ph 4</a:t>
            </a:r>
          </a:p>
        </p:txBody>
      </p:sp>
      <p:sp>
        <p:nvSpPr>
          <p:cNvPr id="407" name="PhCard407"/>
          <p:cNvSpPr/>
          <p:nvPr/>
        </p:nvSpPr>
        <p:spPr>
          <a:xfrm>
            <a:off x="2775428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2E7D32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Conduction of charge/</a:t>
            </a:r>
          </a:p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discharge tests + LU table</a:t>
            </a:r>
          </a:p>
        </p:txBody>
      </p:sp>
      <p:sp>
        <p:nvSpPr>
          <p:cNvPr id="408" name="PhStatus408"/>
          <p:cNvSpPr/>
          <p:nvPr/>
        </p:nvSpPr>
        <p:spPr>
          <a:xfrm>
            <a:off x="2866868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Done</a:t>
            </a:r>
          </a:p>
        </p:txBody>
      </p:sp>
      <p:sp>
        <p:nvSpPr>
          <p:cNvPr id="409" name="PhLabel409"/>
          <p:cNvSpPr/>
          <p:nvPr/>
        </p:nvSpPr>
        <p:spPr>
          <a:xfrm>
            <a:off x="4013142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2E7D32"/>
                </a:solidFill>
                <a:latin typeface="Arial"/>
                <a:cs typeface="Arial"/>
              </a:rPr>
              <a:t>Ph 5</a:t>
            </a:r>
          </a:p>
        </p:txBody>
      </p:sp>
      <p:sp>
        <p:nvSpPr>
          <p:cNvPr id="410" name="PhCard410"/>
          <p:cNvSpPr/>
          <p:nvPr/>
        </p:nvSpPr>
        <p:spPr>
          <a:xfrm>
            <a:off x="4013142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2E7D32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ML fault prediction models (temp/circuit/balancing)</a:t>
            </a:r>
          </a:p>
        </p:txBody>
      </p:sp>
      <p:sp>
        <p:nvSpPr>
          <p:cNvPr id="411" name="PhStatus411"/>
          <p:cNvSpPr/>
          <p:nvPr/>
        </p:nvSpPr>
        <p:spPr>
          <a:xfrm>
            <a:off x="4104582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Done</a:t>
            </a:r>
          </a:p>
        </p:txBody>
      </p:sp>
      <p:sp>
        <p:nvSpPr>
          <p:cNvPr id="412" name="PhLabel412"/>
          <p:cNvSpPr/>
          <p:nvPr/>
        </p:nvSpPr>
        <p:spPr>
          <a:xfrm>
            <a:off x="5250856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E08E00"/>
                </a:solidFill>
                <a:latin typeface="Arial"/>
                <a:cs typeface="Arial"/>
              </a:rPr>
              <a:t>Ph 6</a:t>
            </a:r>
          </a:p>
        </p:txBody>
      </p:sp>
      <p:sp>
        <p:nvSpPr>
          <p:cNvPr id="413" name="PhCard413"/>
          <p:cNvSpPr/>
          <p:nvPr/>
        </p:nvSpPr>
        <p:spPr>
          <a:xfrm>
            <a:off x="5250856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E08E00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Integrate ML model into Simulink</a:t>
            </a:r>
          </a:p>
        </p:txBody>
      </p:sp>
      <p:sp>
        <p:nvSpPr>
          <p:cNvPr id="414" name="PhStatus414"/>
          <p:cNvSpPr/>
          <p:nvPr/>
        </p:nvSpPr>
        <p:spPr>
          <a:xfrm>
            <a:off x="5342296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E08E0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In Progress</a:t>
            </a:r>
          </a:p>
        </p:txBody>
      </p:sp>
      <p:sp>
        <p:nvSpPr>
          <p:cNvPr id="415" name="PhLabel415"/>
          <p:cNvSpPr/>
          <p:nvPr/>
        </p:nvSpPr>
        <p:spPr>
          <a:xfrm>
            <a:off x="6488570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B01B20"/>
                </a:solidFill>
                <a:latin typeface="Arial"/>
                <a:cs typeface="Arial"/>
              </a:rPr>
              <a:t>Ph 7</a:t>
            </a:r>
          </a:p>
        </p:txBody>
      </p:sp>
      <p:sp>
        <p:nvSpPr>
          <p:cNvPr id="416" name="PhCard416"/>
          <p:cNvSpPr/>
          <p:nvPr/>
        </p:nvSpPr>
        <p:spPr>
          <a:xfrm>
            <a:off x="6488570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B01B20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Coolant + balancing circuit design</a:t>
            </a:r>
          </a:p>
        </p:txBody>
      </p:sp>
      <p:sp>
        <p:nvSpPr>
          <p:cNvPr id="417" name="PhStatus417"/>
          <p:cNvSpPr/>
          <p:nvPr/>
        </p:nvSpPr>
        <p:spPr>
          <a:xfrm>
            <a:off x="6580010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B01B2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</a:p>
        </p:txBody>
      </p:sp>
      <p:sp>
        <p:nvSpPr>
          <p:cNvPr id="418" name="PhLabel418"/>
          <p:cNvSpPr/>
          <p:nvPr/>
        </p:nvSpPr>
        <p:spPr>
          <a:xfrm>
            <a:off x="7726284" y="1350000"/>
            <a:ext cx="1117714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B01B20"/>
                </a:solidFill>
                <a:latin typeface="Arial"/>
                <a:cs typeface="Arial"/>
              </a:rPr>
              <a:t>Ph 8</a:t>
            </a:r>
          </a:p>
        </p:txBody>
      </p:sp>
      <p:sp>
        <p:nvSpPr>
          <p:cNvPr id="419" name="PhCard419"/>
          <p:cNvSpPr/>
          <p:nvPr/>
        </p:nvSpPr>
        <p:spPr>
          <a:xfrm>
            <a:off x="7726284" y="1850000"/>
            <a:ext cx="1117714" cy="36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B01B20"/>
            </a:solidFill>
          </a:ln>
        </p:spPr>
        <p:txBody>
          <a:bodyPr wrap="square" lIns="91440" tIns="137160" r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latin typeface="Arial"/>
                <a:cs typeface="Arial"/>
              </a:rPr>
              <a:t>Full-system testing</a:t>
            </a:r>
          </a:p>
        </p:txBody>
      </p:sp>
      <p:sp>
        <p:nvSpPr>
          <p:cNvPr id="420" name="PhStatus420"/>
          <p:cNvSpPr/>
          <p:nvPr/>
        </p:nvSpPr>
        <p:spPr>
          <a:xfrm>
            <a:off x="7817724" y="4950000"/>
            <a:ext cx="934834" cy="380000"/>
          </a:xfrm>
          <a:prstGeom prst="roundRect">
            <a:avLst>
              <a:gd name="adj" fmla="val 50000"/>
            </a:avLst>
          </a:prstGeom>
          <a:solidFill>
            <a:srgbClr val="B01B2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</a:p>
        </p:txBody>
      </p:sp>
      <p:sp>
        <p:nvSpPr>
          <p:cNvPr id="422" name="TimelineNote"/>
          <p:cNvSpPr/>
          <p:nvPr/>
        </p:nvSpPr>
        <p:spPr>
          <a:xfrm>
            <a:off x="300000" y="5750000"/>
            <a:ext cx="8544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200" i="1" dirty="0">
                <a:solidFill>
                  <a:srgbClr val="6B6B6B"/>
                </a:solidFill>
                <a:latin typeface="Arial"/>
                <a:cs typeface="Arial"/>
              </a:rPr>
              <a:t>Currently at Phase 6 -- real-time Simulink integration of the ML fault-prediction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000"/>
            <a:ext cx="8229600" cy="510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[1] M. Daowd, N. Omar, P. Van Den Bossche, and J. Van Mierlo, "Passive and Active Battery Balancing Comparison Based on MATLAB Simulation," Vrije Universiteit Brussel &amp; Erasmus University College Brussels, Belgium.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[2] S. Bhuvaneswari, "Improved BMS: A Smart Electric Vehicle Design based on an Intelligent Battery Management System," 2024 International Conference on Inventive Computation Technologies (ICICT), IEEE, DOI: 10.1109/ICICT60155.2024.10544810.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[3] E. Kamal and L. Adouane, "Hierarchical Energy Optimization Strategy and Its Integrated Reliable Battery Fault Management for Hybrid Hydraulic-Electric Vehicle."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5452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598" y="0"/>
            <a:ext cx="1174719" cy="11523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01A6-15EF-443B-B467-F48A1127064F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5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</TotalTime>
  <Words>955</Words>
  <Application>Microsoft Office PowerPoint</Application>
  <PresentationFormat>On-screen Show (4:3)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Research Scholar</dc:creator>
  <cp:lastModifiedBy>Akash rajan</cp:lastModifiedBy>
  <cp:revision>221</cp:revision>
  <dcterms:created xsi:type="dcterms:W3CDTF">2024-08-09T05:17:06Z</dcterms:created>
  <dcterms:modified xsi:type="dcterms:W3CDTF">2026-08-06T02:27:41Z</dcterms:modified>
</cp:coreProperties>
</file>