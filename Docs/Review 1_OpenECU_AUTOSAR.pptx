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8" r:id="rId3"/>
    <p:sldId id="259" r:id="rId4"/>
    <p:sldId id="260" r:id="rId5"/>
    <p:sldId id="261" r:id="rId6"/>
    <p:sldId id="264" r:id="rId7"/>
    <p:sldId id="263" r:id="rId8"/>
    <p:sldId id="266" r:id="rId9"/>
    <p:sldId id="262"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B20"/>
    <a:srgbClr val="010203"/>
    <a:srgbClr val="BA73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1EB2BF-5735-18E5-DB00-305AA4ACA92D}" v="244" dt="2025-02-18T06:25:14.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5401" autoAdjust="0"/>
  </p:normalViewPr>
  <p:slideViewPr>
    <p:cSldViewPr snapToGrid="0">
      <p:cViewPr varScale="1">
        <p:scale>
          <a:sx n="89" d="100"/>
          <a:sy n="89" d="100"/>
        </p:scale>
        <p:origin x="130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A5C79B-C6DD-43CE-896A-6B1531C18649}" type="datetimeFigureOut">
              <a:rPr lang="en-US" smtClean="0"/>
              <a:pPr/>
              <a:t>8/7/2026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5015B6-97F9-4AC8-B385-F3FF8FF479B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5A6558-133F-4062-A463-EE04B80769B8}" type="datetime1">
              <a:rPr lang="en-IN" smtClean="0"/>
              <a:pPr/>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50538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A291B6-2597-490D-A270-CA0D36018EA7}" type="datetime1">
              <a:rPr lang="en-IN" smtClean="0"/>
              <a:pPr/>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172922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F6A114-96F3-4B42-8596-0B5FE68E9E14}" type="datetime1">
              <a:rPr lang="en-IN" smtClean="0"/>
              <a:pPr/>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952131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124F9E-CF1D-45BA-85E5-9446FDA39A95}" type="datetime1">
              <a:rPr lang="en-IN" smtClean="0"/>
              <a:pPr/>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1090487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724480-3A0E-48DF-9DFD-7E021AA69D85}" type="datetime1">
              <a:rPr lang="en-IN" smtClean="0"/>
              <a:pPr/>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49569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42F514-78CD-4E2C-A99A-2D98F698BD50}" type="datetime1">
              <a:rPr lang="en-IN" smtClean="0"/>
              <a:pPr/>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3496419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47F128-F65E-4946-9E1A-4536A3D0653B}" type="datetime1">
              <a:rPr lang="en-IN" smtClean="0"/>
              <a:pPr/>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07762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1AF201-F481-4B34-AEB5-DECC683939EC}" type="datetime1">
              <a:rPr lang="en-IN" smtClean="0"/>
              <a:pPr/>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3930545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447BC3-96B7-486E-A39A-593142A7EDB7}" type="datetime1">
              <a:rPr lang="en-IN" smtClean="0"/>
              <a:pPr/>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662172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33B7A-D269-452D-B554-4FBECBE9ACB4}" type="datetime1">
              <a:rPr lang="en-IN" smtClean="0"/>
              <a:pPr/>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657238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EC54B5-4C05-49A7-86EE-2E1CD937868B}" type="datetime1">
              <a:rPr lang="en-IN" smtClean="0"/>
              <a:pPr/>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0901A6-15EF-443B-B467-F48A1127064F}" type="slidenum">
              <a:rPr lang="en-IN" smtClean="0"/>
              <a:pPr/>
              <a:t>‹#›</a:t>
            </a:fld>
            <a:endParaRPr lang="en-IN"/>
          </a:p>
        </p:txBody>
      </p:sp>
    </p:spTree>
    <p:extLst>
      <p:ext uri="{BB962C8B-B14F-4D97-AF65-F5344CB8AC3E}">
        <p14:creationId xmlns:p14="http://schemas.microsoft.com/office/powerpoint/2010/main" val="2996658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4E8FEF-9BF2-435E-BA87-B6AFFA0BC0A8}" type="datetime1">
              <a:rPr lang="en-IN" smtClean="0"/>
              <a:pPr/>
              <a:t>07-08-2026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901A6-15EF-443B-B467-F48A1127064F}" type="slidenum">
              <a:rPr lang="en-IN" smtClean="0"/>
              <a:pPr/>
              <a:t>‹#›</a:t>
            </a:fld>
            <a:endParaRPr lang="en-IN"/>
          </a:p>
        </p:txBody>
      </p:sp>
    </p:spTree>
    <p:extLst>
      <p:ext uri="{BB962C8B-B14F-4D97-AF65-F5344CB8AC3E}">
        <p14:creationId xmlns:p14="http://schemas.microsoft.com/office/powerpoint/2010/main" val="41399316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Anna University Logo PNG vector in SVG, PDF, AI, CDR forma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9228"/>
            <a:ext cx="2091254" cy="15696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676941" y="311527"/>
            <a:ext cx="6029231" cy="1169551"/>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cs typeface="Arial" panose="020B0604020202020204" pitchFamily="34" charset="0"/>
              </a:rPr>
              <a:t>Department of ECE</a:t>
            </a:r>
          </a:p>
          <a:p>
            <a:pPr algn="ctr"/>
            <a:r>
              <a:rPr lang="en-US" sz="2000" dirty="0">
                <a:latin typeface="Arial" panose="020B0604020202020204" pitchFamily="34" charset="0"/>
                <a:cs typeface="Arial" panose="020B0604020202020204" pitchFamily="34" charset="0"/>
              </a:rPr>
              <a:t>College of Engineering Guindy, Anna University, Chennai</a:t>
            </a:r>
            <a:endParaRPr lang="en-IN" sz="20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7593283" y="159228"/>
            <a:ext cx="1415250" cy="1653393"/>
          </a:xfrm>
          <a:prstGeom prst="rect">
            <a:avLst/>
          </a:prstGeom>
        </p:spPr>
      </p:pic>
      <p:sp>
        <p:nvSpPr>
          <p:cNvPr id="8" name="Rectangle 7"/>
          <p:cNvSpPr/>
          <p:nvPr/>
        </p:nvSpPr>
        <p:spPr>
          <a:xfrm>
            <a:off x="0" y="311469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b="1" dirty="0">
                <a:latin typeface="Arial" panose="020B0604020202020204" pitchFamily="34" charset="0"/>
                <a:cs typeface="Arial" panose="020B0604020202020204" pitchFamily="34" charset="0"/>
              </a:rPr>
              <a:t>Lightweight AUTOSAR-Inspired Layered Firmware Architecture for Distributed Embedded Systems</a:t>
            </a:r>
            <a:endParaRPr lang="en-IN" sz="2400" b="1" dirty="0">
              <a:latin typeface="Arial" panose="020B0604020202020204" pitchFamily="34" charset="0"/>
              <a:cs typeface="Arial" panose="020B0604020202020204" pitchFamily="34" charset="0"/>
            </a:endParaRPr>
          </a:p>
        </p:txBody>
      </p:sp>
      <p:sp>
        <p:nvSpPr>
          <p:cNvPr id="10" name="TextBox 9"/>
          <p:cNvSpPr txBox="1"/>
          <p:nvPr/>
        </p:nvSpPr>
        <p:spPr>
          <a:xfrm>
            <a:off x="542339" y="4605541"/>
            <a:ext cx="3368230" cy="1893339"/>
          </a:xfrm>
          <a:prstGeom prst="rect">
            <a:avLst/>
          </a:prstGeom>
          <a:noFill/>
        </p:spPr>
        <p:txBody>
          <a:bodyPr wrap="none" rtlCol="0">
            <a:spAutoFit/>
          </a:bodyPr>
          <a:lstStyle/>
          <a:p>
            <a:pPr>
              <a:lnSpc>
                <a:spcPct val="150000"/>
              </a:lnSpc>
            </a:pPr>
            <a:r>
              <a:rPr lang="en-US" sz="1600" b="1" dirty="0">
                <a:latin typeface="Arial" panose="020B0604020202020204" pitchFamily="34" charset="0"/>
                <a:cs typeface="Arial" panose="020B0604020202020204" pitchFamily="34" charset="0"/>
              </a:rPr>
              <a:t>Project Members: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Pragadeesh R    - 2023105512</a:t>
            </a:r>
          </a:p>
          <a:p>
            <a:pPr marL="285750" indent="-285750">
              <a:lnSpc>
                <a:spcPct val="150000"/>
              </a:lnSpc>
              <a:buFont typeface="Arial" panose="020B0604020202020204" pitchFamily="34" charset="0"/>
              <a:buChar char="•"/>
            </a:pPr>
            <a:r>
              <a:rPr lang="en-US" sz="1600" b="1" dirty="0" err="1">
                <a:latin typeface="Arial" panose="020B0604020202020204" pitchFamily="34" charset="0"/>
                <a:cs typeface="Arial" panose="020B0604020202020204" pitchFamily="34" charset="0"/>
              </a:rPr>
              <a:t>Jagakishan</a:t>
            </a:r>
            <a:r>
              <a:rPr lang="en-US" sz="1600" b="1" dirty="0">
                <a:latin typeface="Arial" panose="020B0604020202020204" pitchFamily="34" charset="0"/>
                <a:cs typeface="Arial" panose="020B0604020202020204" pitchFamily="34" charset="0"/>
              </a:rPr>
              <a:t> S K  - 2023105513</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Hariharan S       - 2023105528</a:t>
            </a:r>
          </a:p>
          <a:p>
            <a:pPr>
              <a:lnSpc>
                <a:spcPct val="150000"/>
              </a:lnSpc>
            </a:pPr>
            <a:endParaRPr lang="en-US" sz="1600" b="1" dirty="0">
              <a:latin typeface="Arial" panose="020B0604020202020204" pitchFamily="34" charset="0"/>
              <a:cs typeface="Arial" panose="020B0604020202020204" pitchFamily="34" charset="0"/>
            </a:endParaRPr>
          </a:p>
        </p:txBody>
      </p:sp>
      <p:sp>
        <p:nvSpPr>
          <p:cNvPr id="9" name="TextBox 8"/>
          <p:cNvSpPr txBox="1"/>
          <p:nvPr/>
        </p:nvSpPr>
        <p:spPr>
          <a:xfrm>
            <a:off x="2769079" y="1735685"/>
            <a:ext cx="3524843"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EC23702 – Mini Project</a:t>
            </a:r>
            <a:endParaRPr lang="en-IN" sz="2400" b="1" dirty="0">
              <a:latin typeface="Arial" panose="020B0604020202020204" pitchFamily="34" charset="0"/>
              <a:cs typeface="Arial" panose="020B0604020202020204" pitchFamily="34" charset="0"/>
            </a:endParaRPr>
          </a:p>
        </p:txBody>
      </p:sp>
      <p:sp>
        <p:nvSpPr>
          <p:cNvPr id="14" name="TextBox 13"/>
          <p:cNvSpPr txBox="1"/>
          <p:nvPr/>
        </p:nvSpPr>
        <p:spPr>
          <a:xfrm>
            <a:off x="3573168" y="2214064"/>
            <a:ext cx="1997663" cy="830997"/>
          </a:xfrm>
          <a:prstGeom prst="rect">
            <a:avLst/>
          </a:prstGeom>
          <a:noFill/>
        </p:spPr>
        <p:txBody>
          <a:bodyPr wrap="none" rtlCol="0">
            <a:spAutoFit/>
          </a:bodyPr>
          <a:lstStyle/>
          <a:p>
            <a:pPr algn="ctr"/>
            <a:r>
              <a:rPr lang="en-US" sz="2400" b="1" dirty="0">
                <a:latin typeface="Arial" panose="020B0604020202020204" pitchFamily="34" charset="0"/>
                <a:cs typeface="Arial" panose="020B0604020202020204" pitchFamily="34" charset="0"/>
              </a:rPr>
              <a:t>First Review</a:t>
            </a:r>
          </a:p>
          <a:p>
            <a:pPr algn="ctr"/>
            <a:r>
              <a:rPr lang="en-US" sz="2400" b="1">
                <a:latin typeface="Arial" panose="020B0604020202020204" pitchFamily="34" charset="0"/>
                <a:cs typeface="Arial" panose="020B0604020202020204" pitchFamily="34" charset="0"/>
              </a:rPr>
              <a:t>07.08.2026</a:t>
            </a:r>
            <a:endParaRPr lang="en-US" sz="2400" b="1" dirty="0">
              <a:latin typeface="Arial" panose="020B0604020202020204" pitchFamily="34" charset="0"/>
              <a:cs typeface="Arial" panose="020B0604020202020204" pitchFamily="34" charset="0"/>
            </a:endParaRPr>
          </a:p>
        </p:txBody>
      </p:sp>
      <p:sp>
        <p:nvSpPr>
          <p:cNvPr id="16" name="TextBox 15"/>
          <p:cNvSpPr txBox="1"/>
          <p:nvPr/>
        </p:nvSpPr>
        <p:spPr>
          <a:xfrm>
            <a:off x="5233432" y="4451367"/>
            <a:ext cx="3209918" cy="2270109"/>
          </a:xfrm>
          <a:prstGeom prst="rect">
            <a:avLst/>
          </a:prstGeom>
          <a:noFill/>
        </p:spPr>
        <p:txBody>
          <a:bodyPr wrap="none" rtlCol="0">
            <a:spAutoFit/>
          </a:bodyPr>
          <a:lstStyle/>
          <a:p>
            <a:pPr algn="ctr">
              <a:lnSpc>
                <a:spcPct val="150000"/>
              </a:lnSpc>
            </a:pPr>
            <a:r>
              <a:rPr lang="en-US" sz="1600" b="1" dirty="0">
                <a:latin typeface="Arial" panose="020B0604020202020204" pitchFamily="34" charset="0"/>
                <a:cs typeface="Arial" panose="020B0604020202020204" pitchFamily="34" charset="0"/>
              </a:rPr>
              <a:t>Under the Guidance of:</a:t>
            </a:r>
          </a:p>
          <a:p>
            <a:pPr algn="ctr">
              <a:lnSpc>
                <a:spcPct val="150000"/>
              </a:lnSpc>
            </a:pPr>
            <a:r>
              <a:rPr lang="en-GB" sz="1600" b="1" dirty="0">
                <a:latin typeface="Arial" panose="020B0604020202020204" pitchFamily="34" charset="0"/>
                <a:cs typeface="Arial" panose="020B0604020202020204" pitchFamily="34" charset="0"/>
              </a:rPr>
              <a:t>Dr K Praveen</a:t>
            </a:r>
          </a:p>
          <a:p>
            <a:pPr algn="ctr">
              <a:lnSpc>
                <a:spcPct val="150000"/>
              </a:lnSpc>
            </a:pPr>
            <a:r>
              <a:rPr lang="en-GB" sz="1600" b="1" dirty="0">
                <a:latin typeface="Arial" panose="020B0604020202020204" pitchFamily="34" charset="0"/>
                <a:cs typeface="Arial" panose="020B0604020202020204" pitchFamily="34" charset="0"/>
              </a:rPr>
              <a:t> Assistant Professor (SI. Gr.) </a:t>
            </a:r>
          </a:p>
          <a:p>
            <a:pPr algn="ctr">
              <a:lnSpc>
                <a:spcPct val="150000"/>
              </a:lnSpc>
            </a:pPr>
            <a:r>
              <a:rPr lang="en-US" sz="1600" b="1" dirty="0">
                <a:latin typeface="Arial" panose="020B0604020202020204" pitchFamily="34" charset="0"/>
                <a:cs typeface="Arial" panose="020B0604020202020204" pitchFamily="34" charset="0"/>
              </a:rPr>
              <a:t>Department of ECE</a:t>
            </a:r>
          </a:p>
          <a:p>
            <a:pPr algn="ctr">
              <a:lnSpc>
                <a:spcPct val="150000"/>
              </a:lnSpc>
            </a:pPr>
            <a:r>
              <a:rPr lang="en-US" sz="1600" b="1" dirty="0">
                <a:latin typeface="Arial" panose="020B0604020202020204" pitchFamily="34" charset="0"/>
                <a:cs typeface="Arial" panose="020B0604020202020204" pitchFamily="34" charset="0"/>
              </a:rPr>
              <a:t>CEG Campus, Anna University</a:t>
            </a:r>
            <a:r>
              <a:rPr lang="en-US" sz="1600" b="1" dirty="0"/>
              <a:t> </a:t>
            </a:r>
          </a:p>
          <a:p>
            <a:pPr algn="ctr">
              <a:lnSpc>
                <a:spcPct val="150000"/>
              </a:lnSpc>
            </a:pPr>
            <a:endParaRPr lang="en-US" sz="1600" b="1" dirty="0"/>
          </a:p>
        </p:txBody>
      </p:sp>
      <p:sp>
        <p:nvSpPr>
          <p:cNvPr id="12" name="Slide Number Placeholder 11"/>
          <p:cNvSpPr>
            <a:spLocks noGrp="1"/>
          </p:cNvSpPr>
          <p:nvPr>
            <p:ph type="sldNum" sz="quarter" idx="12"/>
          </p:nvPr>
        </p:nvSpPr>
        <p:spPr/>
        <p:txBody>
          <a:bodyPr/>
          <a:lstStyle/>
          <a:p>
            <a:fld id="{800901A6-15EF-443B-B467-F48A1127064F}" type="slidenum">
              <a:rPr lang="en-IN" smtClean="0"/>
              <a:pPr/>
              <a:t>1</a:t>
            </a:fld>
            <a:endParaRPr lang="en-IN" dirty="0"/>
          </a:p>
        </p:txBody>
      </p:sp>
    </p:spTree>
    <p:extLst>
      <p:ext uri="{BB962C8B-B14F-4D97-AF65-F5344CB8AC3E}">
        <p14:creationId xmlns:p14="http://schemas.microsoft.com/office/powerpoint/2010/main" val="168540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CE13D-474E-C499-655F-E3B0523E6A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9C279-FA26-D762-E446-2DC49CB4232B}"/>
              </a:ext>
            </a:extLst>
          </p:cNvPr>
          <p:cNvSpPr>
            <a:spLocks noGrp="1"/>
          </p:cNvSpPr>
          <p:nvPr>
            <p:ph idx="1"/>
          </p:nvPr>
        </p:nvSpPr>
        <p:spPr>
          <a:xfrm>
            <a:off x="301926" y="1163888"/>
            <a:ext cx="8428391" cy="5557588"/>
          </a:xfrm>
        </p:spPr>
        <p:txBody>
          <a:bodyPr>
            <a:noAutofit/>
          </a:bodyPr>
          <a:lstStyle/>
          <a:p>
            <a:pPr algn="just">
              <a:lnSpc>
                <a:spcPct val="150000"/>
              </a:lnSpc>
              <a:buSzPct val="150000"/>
            </a:pPr>
            <a:r>
              <a:rPr lang="en-US" sz="1600" dirty="0">
                <a:latin typeface="Arial" panose="020B0604020202020204" pitchFamily="34" charset="0"/>
                <a:cs typeface="Arial" panose="020B0604020202020204" pitchFamily="34" charset="0"/>
              </a:rPr>
              <a:t>Modern automotive embedded systems consist of multiple Electronic Control Units (ECUs) communicating over standardized communication protocols.</a:t>
            </a:r>
          </a:p>
          <a:p>
            <a:pPr algn="just">
              <a:lnSpc>
                <a:spcPct val="150000"/>
              </a:lnSpc>
              <a:buSzPct val="150000"/>
            </a:pPr>
            <a:r>
              <a:rPr lang="en-US" sz="1600" dirty="0">
                <a:latin typeface="Arial" panose="020B0604020202020204" pitchFamily="34" charset="0"/>
                <a:cs typeface="Arial" panose="020B0604020202020204" pitchFamily="34" charset="0"/>
              </a:rPr>
              <a:t>Traditional embedded firmware tightly couples application logic with hardware drivers, making software </a:t>
            </a:r>
            <a:r>
              <a:rPr lang="en-US" sz="1600" b="1" dirty="0">
                <a:latin typeface="Arial" panose="020B0604020202020204" pitchFamily="34" charset="0"/>
                <a:cs typeface="Arial" panose="020B0604020202020204" pitchFamily="34" charset="0"/>
              </a:rPr>
              <a:t>difficult to reuse, maintain, and scale</a:t>
            </a:r>
            <a:r>
              <a:rPr lang="en-US" sz="1600" dirty="0">
                <a:latin typeface="Arial" panose="020B0604020202020204" pitchFamily="34" charset="0"/>
                <a:cs typeface="Arial" panose="020B0604020202020204" pitchFamily="34" charset="0"/>
              </a:rPr>
              <a:t>.</a:t>
            </a:r>
          </a:p>
          <a:p>
            <a:pPr algn="just">
              <a:lnSpc>
                <a:spcPct val="150000"/>
              </a:lnSpc>
              <a:buSzPct val="150000"/>
            </a:pPr>
            <a:r>
              <a:rPr lang="en-US" sz="1600" dirty="0">
                <a:latin typeface="Arial" panose="020B0604020202020204" pitchFamily="34" charset="0"/>
                <a:cs typeface="Arial" panose="020B0604020202020204" pitchFamily="34" charset="0"/>
              </a:rPr>
              <a:t>Industrial solutions like AUTOSAR, IMA overcome these issues using layered software architecture, runtime communication, hardware abstraction, and reusable software components.</a:t>
            </a:r>
          </a:p>
          <a:p>
            <a:pPr algn="just">
              <a:lnSpc>
                <a:spcPct val="150000"/>
              </a:lnSpc>
              <a:buSzPct val="150000"/>
            </a:pPr>
            <a:r>
              <a:rPr lang="en-US" sz="1600" dirty="0">
                <a:latin typeface="Arial" panose="020B0604020202020204" pitchFamily="34" charset="0"/>
                <a:cs typeface="Arial" panose="020B0604020202020204" pitchFamily="34" charset="0"/>
              </a:rPr>
              <a:t>There is a lack of open-source architecture for small and medium scale implementation of distributed embedded systems.</a:t>
            </a:r>
          </a:p>
          <a:p>
            <a:pPr algn="just">
              <a:lnSpc>
                <a:spcPct val="150000"/>
              </a:lnSpc>
              <a:buSzPct val="150000"/>
            </a:pPr>
            <a:r>
              <a:rPr lang="en-US" sz="1600" dirty="0">
                <a:latin typeface="Arial" panose="020B0604020202020204" pitchFamily="34" charset="0"/>
                <a:cs typeface="Arial" panose="020B0604020202020204" pitchFamily="34" charset="0"/>
              </a:rPr>
              <a:t>Our project develops a </a:t>
            </a:r>
            <a:r>
              <a:rPr lang="en-US" sz="1600" b="1" dirty="0">
                <a:latin typeface="Arial" panose="020B0604020202020204" pitchFamily="34" charset="0"/>
                <a:cs typeface="Arial" panose="020B0604020202020204" pitchFamily="34" charset="0"/>
              </a:rPr>
              <a:t>lightweight AUTOSAR-inspired firmware framework using ARM controllers and open-source RTOS</a:t>
            </a:r>
            <a:r>
              <a:rPr lang="en-US" sz="1600" dirty="0">
                <a:latin typeface="Arial" panose="020B0604020202020204" pitchFamily="34" charset="0"/>
                <a:cs typeface="Arial" panose="020B0604020202020204" pitchFamily="34" charset="0"/>
              </a:rPr>
              <a:t>, recreating essential AUTOSAR concepts including layered architecture, driver abstraction, runtime communication, and distributed ECU communication.</a:t>
            </a:r>
          </a:p>
        </p:txBody>
      </p:sp>
      <p:sp>
        <p:nvSpPr>
          <p:cNvPr id="4" name="Rectangle 3">
            <a:extLst>
              <a:ext uri="{FF2B5EF4-FFF2-40B4-BE49-F238E27FC236}">
                <a16:creationId xmlns:a16="http://schemas.microsoft.com/office/drawing/2014/main" id="{57760611-9B03-C834-BE1A-E006EA122B90}"/>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Introduction</a:t>
            </a:r>
            <a:endParaRPr lang="en-IN" sz="30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8C366EB-B227-E361-ECB1-6CF5B5B280B6}"/>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19FDEC25-756F-A7AE-6DFC-61990C688447}"/>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A551025C-891F-5237-CAD7-35334F711E8A}"/>
              </a:ext>
            </a:extLst>
          </p:cNvPr>
          <p:cNvSpPr>
            <a:spLocks noGrp="1"/>
          </p:cNvSpPr>
          <p:nvPr>
            <p:ph type="sldNum" sz="quarter" idx="12"/>
          </p:nvPr>
        </p:nvSpPr>
        <p:spPr/>
        <p:txBody>
          <a:bodyPr/>
          <a:lstStyle/>
          <a:p>
            <a:fld id="{800901A6-15EF-443B-B467-F48A1127064F}" type="slidenum">
              <a:rPr lang="en-IN" smtClean="0"/>
              <a:pPr/>
              <a:t>2</a:t>
            </a:fld>
            <a:endParaRPr lang="en-IN"/>
          </a:p>
        </p:txBody>
      </p:sp>
    </p:spTree>
    <p:extLst>
      <p:ext uri="{BB962C8B-B14F-4D97-AF65-F5344CB8AC3E}">
        <p14:creationId xmlns:p14="http://schemas.microsoft.com/office/powerpoint/2010/main" val="109994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162B5-4BF1-F3FE-81C4-862900886D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29EAD1-70FE-5643-9581-7E655EDC2526}"/>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Literature Review </a:t>
            </a:r>
            <a:endParaRPr lang="en-IN" sz="30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566AC58-F2A5-2705-04BB-D76E077D6946}"/>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2E75D381-BC59-AEF6-7BCF-2D2B10FB3627}"/>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EB308081-F9B7-6059-DD46-7E475019935E}"/>
              </a:ext>
            </a:extLst>
          </p:cNvPr>
          <p:cNvSpPr>
            <a:spLocks noGrp="1"/>
          </p:cNvSpPr>
          <p:nvPr>
            <p:ph type="sldNum" sz="quarter" idx="12"/>
          </p:nvPr>
        </p:nvSpPr>
        <p:spPr/>
        <p:txBody>
          <a:bodyPr/>
          <a:lstStyle/>
          <a:p>
            <a:fld id="{800901A6-15EF-443B-B467-F48A1127064F}" type="slidenum">
              <a:rPr lang="en-IN" smtClean="0"/>
              <a:pPr/>
              <a:t>3</a:t>
            </a:fld>
            <a:endParaRPr lang="en-IN"/>
          </a:p>
        </p:txBody>
      </p:sp>
      <p:graphicFrame>
        <p:nvGraphicFramePr>
          <p:cNvPr id="10" name="Lit Review Table">
            <a:extLst>
              <a:ext uri="{FF2B5EF4-FFF2-40B4-BE49-F238E27FC236}">
                <a16:creationId xmlns:a16="http://schemas.microsoft.com/office/drawing/2014/main" id="{C2F62FE6-EBDF-E725-ED5D-B0B864EFDE52}"/>
              </a:ext>
            </a:extLst>
          </p:cNvPr>
          <p:cNvGraphicFramePr>
            <a:graphicFrameLocks noGrp="1"/>
          </p:cNvGraphicFramePr>
          <p:nvPr>
            <p:extLst>
              <p:ext uri="{D42A27DB-BD31-4B8C-83A1-F6EECF244321}">
                <p14:modId xmlns:p14="http://schemas.microsoft.com/office/powerpoint/2010/main" val="277458814"/>
              </p:ext>
            </p:extLst>
          </p:nvPr>
        </p:nvGraphicFramePr>
        <p:xfrm>
          <a:off x="362117" y="1311218"/>
          <a:ext cx="8419766" cy="5158328"/>
        </p:xfrm>
        <a:graphic>
          <a:graphicData uri="http://schemas.openxmlformats.org/drawingml/2006/table">
            <a:tbl>
              <a:tblPr firstRow="1" bandRow="1">
                <a:tableStyleId>{5C22544A-7EE6-4342-B048-85BDC9FD1C3A}</a:tableStyleId>
              </a:tblPr>
              <a:tblGrid>
                <a:gridCol w="2346385">
                  <a:extLst>
                    <a:ext uri="{9D8B030D-6E8A-4147-A177-3AD203B41FA5}">
                      <a16:colId xmlns:a16="http://schemas.microsoft.com/office/drawing/2014/main" val="20000"/>
                    </a:ext>
                  </a:extLst>
                </a:gridCol>
                <a:gridCol w="3560901">
                  <a:extLst>
                    <a:ext uri="{9D8B030D-6E8A-4147-A177-3AD203B41FA5}">
                      <a16:colId xmlns:a16="http://schemas.microsoft.com/office/drawing/2014/main" val="20001"/>
                    </a:ext>
                  </a:extLst>
                </a:gridCol>
                <a:gridCol w="2512480">
                  <a:extLst>
                    <a:ext uri="{9D8B030D-6E8A-4147-A177-3AD203B41FA5}">
                      <a16:colId xmlns:a16="http://schemas.microsoft.com/office/drawing/2014/main" val="20002"/>
                    </a:ext>
                  </a:extLst>
                </a:gridCol>
              </a:tblGrid>
              <a:tr h="281528">
                <a:tc>
                  <a:txBody>
                    <a:bodyPr/>
                    <a:lstStyle/>
                    <a:p>
                      <a:pPr marL="0" indent="0" algn="ctr"/>
                      <a:r>
                        <a:rPr lang="en-US" sz="1400" b="1" dirty="0">
                          <a:solidFill>
                            <a:srgbClr val="FFFFFF"/>
                          </a:solidFill>
                          <a:latin typeface="Arial"/>
                          <a:cs typeface="Arial"/>
                        </a:rPr>
                        <a:t>Paper </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1B20"/>
                    </a:solidFill>
                  </a:tcPr>
                </a:tc>
                <a:tc>
                  <a:txBody>
                    <a:bodyPr/>
                    <a:lstStyle/>
                    <a:p>
                      <a:pPr marL="0" indent="0" algn="ctr"/>
                      <a:r>
                        <a:rPr lang="en-US" sz="1400" b="1" dirty="0">
                          <a:solidFill>
                            <a:srgbClr val="FFFFFF"/>
                          </a:solidFill>
                          <a:latin typeface="Arial"/>
                          <a:cs typeface="Arial"/>
                        </a:rPr>
                        <a:t>Methodology</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1B20"/>
                    </a:solidFill>
                  </a:tcPr>
                </a:tc>
                <a:tc>
                  <a:txBody>
                    <a:bodyPr/>
                    <a:lstStyle/>
                    <a:p>
                      <a:pPr marL="0" indent="0" algn="ctr"/>
                      <a:r>
                        <a:rPr lang="en-US" sz="1400" b="1" dirty="0">
                          <a:solidFill>
                            <a:srgbClr val="FFFFFF"/>
                          </a:solidFill>
                          <a:latin typeface="Arial"/>
                          <a:cs typeface="Arial"/>
                        </a:rPr>
                        <a:t>Inference</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1B20"/>
                    </a:solidFill>
                  </a:tcPr>
                </a:tc>
                <a:extLst>
                  <a:ext uri="{0D108BD9-81ED-4DB2-BD59-A6C34878D82A}">
                    <a16:rowId xmlns:a16="http://schemas.microsoft.com/office/drawing/2014/main" val="10000"/>
                  </a:ext>
                </a:extLst>
              </a:tr>
              <a:tr h="1645980">
                <a:tc>
                  <a:txBody>
                    <a:bodyPr/>
                    <a:lstStyle/>
                    <a:p>
                      <a:pPr marL="0" indent="0" algn="l"/>
                      <a:r>
                        <a:rPr lang="en-US" sz="1400" b="1" dirty="0">
                          <a:latin typeface="Arial"/>
                          <a:cs typeface="Arial"/>
                        </a:rPr>
                        <a:t>Design and Implementation Procedure for an Advanced Driver Assistance System Based on an Open Source AUTOSAR </a:t>
                      </a:r>
                      <a:r>
                        <a:rPr lang="en-US" sz="1400" dirty="0">
                          <a:latin typeface="Arial"/>
                          <a:cs typeface="Arial"/>
                        </a:rPr>
                        <a:t>(</a:t>
                      </a:r>
                      <a:r>
                        <a:rPr lang="en-US" sz="1400" dirty="0" err="1">
                          <a:latin typeface="Arial"/>
                          <a:cs typeface="Arial"/>
                        </a:rPr>
                        <a:t>Jaeho</a:t>
                      </a:r>
                      <a:r>
                        <a:rPr lang="en-US" sz="1400" dirty="0">
                          <a:latin typeface="Arial"/>
                          <a:cs typeface="Arial"/>
                        </a:rPr>
                        <a:t> Park &amp; Byoung Wook Choi, Electronics, 2019)</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Developed an ADAS application using Open Source AUTOSAR by dividing the system into Application Software Components (SWC), Runtime Environment (RTE), and Basic Software (BSW). Implemented CAN communication stack and evaluated task scheduling, latency, and communication performance.</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Demonstrated that a layered AUTOSAR architecture improves software modularity, portability, and maintainability while enabling efficient ECU communication.</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1447328">
                <a:tc>
                  <a:txBody>
                    <a:bodyPr/>
                    <a:lstStyle/>
                    <a:p>
                      <a:pPr marL="0" indent="0" algn="l"/>
                      <a:r>
                        <a:rPr lang="en-US" sz="1400" b="1" dirty="0">
                          <a:latin typeface="Arial"/>
                          <a:cs typeface="Arial"/>
                        </a:rPr>
                        <a:t>Hardware Prototyping using </a:t>
                      </a:r>
                      <a:r>
                        <a:rPr lang="en-US" sz="1400" b="1" dirty="0" err="1">
                          <a:latin typeface="Arial"/>
                          <a:cs typeface="Arial"/>
                        </a:rPr>
                        <a:t>FreeRTOS</a:t>
                      </a:r>
                      <a:r>
                        <a:rPr lang="en-US" sz="1400" b="1" dirty="0">
                          <a:latin typeface="Arial"/>
                          <a:cs typeface="Arial"/>
                        </a:rPr>
                        <a:t> while Developing AUTOSAR Compliant Application Software using Simulink </a:t>
                      </a:r>
                      <a:r>
                        <a:rPr lang="en-US" sz="1400" dirty="0">
                          <a:latin typeface="Arial"/>
                          <a:cs typeface="Arial"/>
                        </a:rPr>
                        <a:t>(Roopak Ingole &amp; Benjamin Eckhart, 2022)</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Integrated </a:t>
                      </a:r>
                      <a:r>
                        <a:rPr lang="en-US" sz="1400" dirty="0" err="1">
                          <a:latin typeface="Arial"/>
                          <a:cs typeface="Arial"/>
                        </a:rPr>
                        <a:t>FreeRTOS</a:t>
                      </a:r>
                      <a:r>
                        <a:rPr lang="en-US" sz="1400" dirty="0">
                          <a:latin typeface="Arial"/>
                          <a:cs typeface="Arial"/>
                        </a:rPr>
                        <a:t> with Simulink-generated AUTOSAR applications using lightweight middleware and manually implemented RTE functions for rapid hardware prototyping.</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Showed that </a:t>
                      </a:r>
                      <a:r>
                        <a:rPr lang="en-US" sz="1400" dirty="0" err="1">
                          <a:latin typeface="Arial"/>
                          <a:cs typeface="Arial"/>
                        </a:rPr>
                        <a:t>FreeRTOS</a:t>
                      </a:r>
                      <a:r>
                        <a:rPr lang="en-US" sz="1400" dirty="0">
                          <a:latin typeface="Arial"/>
                          <a:cs typeface="Arial"/>
                        </a:rPr>
                        <a:t>-based lightweight prototyping significantly reduces development time and cost while supporting AUTOSAR-compliant application development.</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1447328">
                <a:tc>
                  <a:txBody>
                    <a:bodyPr/>
                    <a:lstStyle/>
                    <a:p>
                      <a:pPr marL="0" indent="0" algn="l"/>
                      <a:r>
                        <a:rPr lang="en-US" sz="1400" b="1" dirty="0">
                          <a:latin typeface="Arial"/>
                          <a:cs typeface="Arial"/>
                        </a:rPr>
                        <a:t>Component-Based Middleware Synthesis for AUTOSAR Systems </a:t>
                      </a:r>
                      <a:r>
                        <a:rPr lang="en-US" sz="1400" dirty="0">
                          <a:latin typeface="Arial"/>
                          <a:cs typeface="Arial"/>
                        </a:rPr>
                        <a:t>(Dietmar Schreiner, Markus </a:t>
                      </a:r>
                      <a:r>
                        <a:rPr lang="en-US" sz="1400" dirty="0" err="1">
                          <a:latin typeface="Arial"/>
                          <a:cs typeface="Arial"/>
                        </a:rPr>
                        <a:t>Schordan</a:t>
                      </a:r>
                      <a:r>
                        <a:rPr lang="en-US" sz="1400" dirty="0">
                          <a:latin typeface="Arial"/>
                          <a:cs typeface="Arial"/>
                        </a:rPr>
                        <a:t>, Karl M. </a:t>
                      </a:r>
                      <a:r>
                        <a:rPr lang="en-US" sz="1400" dirty="0" err="1">
                          <a:latin typeface="Arial"/>
                          <a:cs typeface="Arial"/>
                        </a:rPr>
                        <a:t>Goschka</a:t>
                      </a:r>
                      <a:r>
                        <a:rPr lang="en-US" sz="1400" dirty="0">
                          <a:latin typeface="Arial"/>
                          <a:cs typeface="Arial"/>
                        </a:rPr>
                        <a:t>, 2009)</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Proposed a component-based middleware framework that automatically synthesizes communication middleware between AUTOSAR software components. Focused on software component interaction, middleware generation, and runtime communication..</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just"/>
                      <a:r>
                        <a:rPr lang="en-US" sz="1400" dirty="0">
                          <a:latin typeface="Arial"/>
                          <a:cs typeface="Arial"/>
                        </a:rPr>
                        <a:t>Demonstrated that middleware abstraction simplifies software integration, improves component reusability, and reduces coupling between applications and hardware platforms.</a:t>
                      </a:r>
                    </a:p>
                  </a:txBody>
                  <a:tcPr marL="45720" marR="4572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2307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6B29-E33A-81DA-5265-8205FE1700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EEB93-3715-2BE5-2403-0BBD645EE817}"/>
              </a:ext>
            </a:extLst>
          </p:cNvPr>
          <p:cNvSpPr>
            <a:spLocks noGrp="1"/>
          </p:cNvSpPr>
          <p:nvPr>
            <p:ph idx="1"/>
          </p:nvPr>
        </p:nvSpPr>
        <p:spPr>
          <a:xfrm>
            <a:off x="628649" y="1163888"/>
            <a:ext cx="8101667" cy="5417386"/>
          </a:xfrm>
        </p:spPr>
        <p:txBody>
          <a:bodyPr>
            <a:normAutofit/>
          </a:bodyPr>
          <a:lstStyle/>
          <a:p>
            <a:pPr>
              <a:lnSpc>
                <a:spcPct val="150000"/>
              </a:lnSpc>
            </a:pPr>
            <a:r>
              <a:rPr lang="en-US" sz="1600" dirty="0">
                <a:latin typeface="Arial" panose="020B0604020202020204" pitchFamily="34" charset="0"/>
                <a:cs typeface="Arial" panose="020B0604020202020204" pitchFamily="34" charset="0"/>
              </a:rPr>
              <a:t>Embedded applications are frequently designed with monolithic architecture, where application logic, peripheral drivers, communication mechanisms, and system services are tightly coupled. </a:t>
            </a:r>
          </a:p>
          <a:p>
            <a:pPr>
              <a:lnSpc>
                <a:spcPct val="150000"/>
              </a:lnSpc>
            </a:pPr>
            <a:r>
              <a:rPr lang="en-US" sz="1600" dirty="0">
                <a:latin typeface="Arial" panose="020B0604020202020204" pitchFamily="34" charset="0"/>
                <a:cs typeface="Arial" panose="020B0604020202020204" pitchFamily="34" charset="0"/>
              </a:rPr>
              <a:t>Although industrial frameworks such as AUTOSAR address these challenges through standardized layered software architecture, their complexity, licensing requirements, and extensive tooling make them impractical for academic learning and experimentation.</a:t>
            </a:r>
          </a:p>
          <a:p>
            <a:pPr>
              <a:lnSpc>
                <a:spcPct val="150000"/>
              </a:lnSpc>
            </a:pPr>
            <a:r>
              <a:rPr lang="en-US" sz="1600" dirty="0">
                <a:latin typeface="Arial" panose="020B0604020202020204" pitchFamily="34" charset="0"/>
                <a:cs typeface="Arial" panose="020B0604020202020204" pitchFamily="34" charset="0"/>
              </a:rPr>
              <a:t>Though Open AUTOSAR provides an open-source alternative, internal layers like BSW layer, Physical layer are non-configurable, and provide all services regardless of the individual ECUs.</a:t>
            </a:r>
          </a:p>
          <a:p>
            <a:pPr>
              <a:lnSpc>
                <a:spcPct val="150000"/>
              </a:lnSpc>
            </a:pPr>
            <a:r>
              <a:rPr lang="en-US" sz="1600" dirty="0">
                <a:latin typeface="Arial" panose="020B0604020202020204" pitchFamily="34" charset="0"/>
                <a:cs typeface="Arial" panose="020B0604020202020204" pitchFamily="34" charset="0"/>
              </a:rPr>
              <a:t>Existing solutions are application based and </a:t>
            </a:r>
            <a:r>
              <a:rPr lang="en-US" sz="1600" dirty="0" err="1">
                <a:latin typeface="Arial" panose="020B0604020202020204" pitchFamily="34" charset="0"/>
                <a:cs typeface="Arial" panose="020B0604020202020204" pitchFamily="34" charset="0"/>
              </a:rPr>
              <a:t>utilise</a:t>
            </a:r>
            <a:r>
              <a:rPr lang="en-US" sz="1600" dirty="0">
                <a:latin typeface="Arial" panose="020B0604020202020204" pitchFamily="34" charset="0"/>
                <a:cs typeface="Arial" panose="020B0604020202020204" pitchFamily="34" charset="0"/>
              </a:rPr>
              <a:t> IDE dependent platforms to overcome the limitation.</a:t>
            </a:r>
          </a:p>
        </p:txBody>
      </p:sp>
      <p:sp>
        <p:nvSpPr>
          <p:cNvPr id="4" name="Rectangle 3">
            <a:extLst>
              <a:ext uri="{FF2B5EF4-FFF2-40B4-BE49-F238E27FC236}">
                <a16:creationId xmlns:a16="http://schemas.microsoft.com/office/drawing/2014/main" id="{1D3EB3A4-875C-292E-09F5-168EFA50D18B}"/>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Problem Statement</a:t>
            </a:r>
          </a:p>
        </p:txBody>
      </p:sp>
      <p:pic>
        <p:nvPicPr>
          <p:cNvPr id="8" name="Picture 7">
            <a:extLst>
              <a:ext uri="{FF2B5EF4-FFF2-40B4-BE49-F238E27FC236}">
                <a16:creationId xmlns:a16="http://schemas.microsoft.com/office/drawing/2014/main" id="{12F30DD8-D0C3-69EF-2181-A45942DB66D8}"/>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863F3D52-AC0C-BEA4-D2AD-A4365CEB11FF}"/>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B36F417C-3F4E-9B02-DA91-1FEFF5A5B913}"/>
              </a:ext>
            </a:extLst>
          </p:cNvPr>
          <p:cNvSpPr>
            <a:spLocks noGrp="1"/>
          </p:cNvSpPr>
          <p:nvPr>
            <p:ph type="sldNum" sz="quarter" idx="12"/>
          </p:nvPr>
        </p:nvSpPr>
        <p:spPr/>
        <p:txBody>
          <a:bodyPr/>
          <a:lstStyle/>
          <a:p>
            <a:fld id="{800901A6-15EF-443B-B467-F48A1127064F}" type="slidenum">
              <a:rPr lang="en-IN" smtClean="0"/>
              <a:pPr/>
              <a:t>4</a:t>
            </a:fld>
            <a:endParaRPr lang="en-IN"/>
          </a:p>
        </p:txBody>
      </p:sp>
    </p:spTree>
    <p:extLst>
      <p:ext uri="{BB962C8B-B14F-4D97-AF65-F5344CB8AC3E}">
        <p14:creationId xmlns:p14="http://schemas.microsoft.com/office/powerpoint/2010/main" val="243712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62ACA-C9F6-3F0F-CE95-0FD1C243C0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F2755-64DA-787C-C133-7EE37AC90702}"/>
              </a:ext>
            </a:extLst>
          </p:cNvPr>
          <p:cNvSpPr>
            <a:spLocks noGrp="1"/>
          </p:cNvSpPr>
          <p:nvPr>
            <p:ph idx="1"/>
          </p:nvPr>
        </p:nvSpPr>
        <p:spPr>
          <a:xfrm>
            <a:off x="611397" y="1304090"/>
            <a:ext cx="7886701" cy="5417386"/>
          </a:xfrm>
        </p:spPr>
        <p:txBody>
          <a:bodyPr>
            <a:normAutofit/>
          </a:bodyPr>
          <a:lstStyle/>
          <a:p>
            <a:pPr>
              <a:buSzPct val="130000"/>
            </a:pPr>
            <a:r>
              <a:rPr lang="en-IN" sz="1800" dirty="0"/>
              <a:t>Develop lightweight AUTOSAR-inspired layered firmware.</a:t>
            </a:r>
          </a:p>
          <a:p>
            <a:pPr>
              <a:buSzPct val="130000"/>
            </a:pPr>
            <a:r>
              <a:rPr lang="en-IN" sz="1800" dirty="0"/>
              <a:t>Develop scalable and reusable physical layer.</a:t>
            </a:r>
          </a:p>
          <a:p>
            <a:pPr>
              <a:buSzPct val="130000"/>
            </a:pPr>
            <a:r>
              <a:rPr lang="en-IN" sz="1800" dirty="0"/>
              <a:t>Integrate </a:t>
            </a:r>
            <a:r>
              <a:rPr lang="en-IN" sz="1800" dirty="0" err="1"/>
              <a:t>FreeRTOS</a:t>
            </a:r>
            <a:r>
              <a:rPr lang="en-IN" sz="1800" dirty="0"/>
              <a:t> scheduler in BSW Layer.</a:t>
            </a:r>
          </a:p>
          <a:p>
            <a:pPr>
              <a:buSzPct val="130000"/>
            </a:pPr>
            <a:r>
              <a:rPr lang="en-IN" sz="1800" dirty="0"/>
              <a:t>Validate real-time task execution and synchronize co-working of multiple ECUs.</a:t>
            </a:r>
          </a:p>
          <a:p>
            <a:pPr>
              <a:buSzPct val="130000"/>
            </a:pPr>
            <a:r>
              <a:rPr lang="en-IN" sz="1800" dirty="0"/>
              <a:t>Compare modular architecture with traditional firmware.</a:t>
            </a:r>
          </a:p>
        </p:txBody>
      </p:sp>
      <p:sp>
        <p:nvSpPr>
          <p:cNvPr id="4" name="Rectangle 3">
            <a:extLst>
              <a:ext uri="{FF2B5EF4-FFF2-40B4-BE49-F238E27FC236}">
                <a16:creationId xmlns:a16="http://schemas.microsoft.com/office/drawing/2014/main" id="{3182814C-4AFE-257F-A0E4-8FC208D86CD8}"/>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Objectives</a:t>
            </a:r>
          </a:p>
        </p:txBody>
      </p:sp>
      <p:pic>
        <p:nvPicPr>
          <p:cNvPr id="8" name="Picture 7">
            <a:extLst>
              <a:ext uri="{FF2B5EF4-FFF2-40B4-BE49-F238E27FC236}">
                <a16:creationId xmlns:a16="http://schemas.microsoft.com/office/drawing/2014/main" id="{C3443C42-D482-5278-15B4-0ABBC3B6185E}"/>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345D532C-8204-55F8-A447-4DB2B8932874}"/>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BB080FDB-BF57-DFCA-BF37-8978582F7997}"/>
              </a:ext>
            </a:extLst>
          </p:cNvPr>
          <p:cNvSpPr>
            <a:spLocks noGrp="1"/>
          </p:cNvSpPr>
          <p:nvPr>
            <p:ph type="sldNum" sz="quarter" idx="12"/>
          </p:nvPr>
        </p:nvSpPr>
        <p:spPr/>
        <p:txBody>
          <a:bodyPr/>
          <a:lstStyle/>
          <a:p>
            <a:fld id="{800901A6-15EF-443B-B467-F48A1127064F}" type="slidenum">
              <a:rPr lang="en-IN" smtClean="0"/>
              <a:pPr/>
              <a:t>5</a:t>
            </a:fld>
            <a:endParaRPr lang="en-IN"/>
          </a:p>
        </p:txBody>
      </p:sp>
      <p:grpSp>
        <p:nvGrpSpPr>
          <p:cNvPr id="2" name="Group 1">
            <a:extLst>
              <a:ext uri="{FF2B5EF4-FFF2-40B4-BE49-F238E27FC236}">
                <a16:creationId xmlns:a16="http://schemas.microsoft.com/office/drawing/2014/main" id="{CD5E1114-0C94-0570-FC73-AF41318AFAD3}"/>
              </a:ext>
            </a:extLst>
          </p:cNvPr>
          <p:cNvGrpSpPr/>
          <p:nvPr/>
        </p:nvGrpSpPr>
        <p:grpSpPr>
          <a:xfrm>
            <a:off x="985692" y="3314419"/>
            <a:ext cx="6948338" cy="3295291"/>
            <a:chOff x="1097831" y="3562709"/>
            <a:chExt cx="6948338" cy="3295291"/>
          </a:xfrm>
        </p:grpSpPr>
        <p:pic>
          <p:nvPicPr>
            <p:cNvPr id="7" name="Picture 6">
              <a:extLst>
                <a:ext uri="{FF2B5EF4-FFF2-40B4-BE49-F238E27FC236}">
                  <a16:creationId xmlns:a16="http://schemas.microsoft.com/office/drawing/2014/main" id="{0E8BB18E-6CBA-A606-B76C-D9F9C2F8E623}"/>
                </a:ext>
              </a:extLst>
            </p:cNvPr>
            <p:cNvPicPr>
              <a:picLocks noChangeAspect="1"/>
            </p:cNvPicPr>
            <p:nvPr/>
          </p:nvPicPr>
          <p:blipFill>
            <a:blip r:embed="rId3">
              <a:extLst>
                <a:ext uri="{28A0092B-C50C-407E-A947-70E740481C1C}">
                  <a14:useLocalDpi xmlns:a14="http://schemas.microsoft.com/office/drawing/2010/main" val="0"/>
                </a:ext>
              </a:extLst>
            </a:blip>
            <a:srcRect l="3369" t="10096"/>
            <a:stretch>
              <a:fillRect/>
            </a:stretch>
          </p:blipFill>
          <p:spPr>
            <a:xfrm>
              <a:off x="1552754" y="3562709"/>
              <a:ext cx="6493415" cy="3295291"/>
            </a:xfrm>
            <a:prstGeom prst="rect">
              <a:avLst/>
            </a:prstGeom>
          </p:spPr>
        </p:pic>
        <p:pic>
          <p:nvPicPr>
            <p:cNvPr id="10" name="Picture 9">
              <a:extLst>
                <a:ext uri="{FF2B5EF4-FFF2-40B4-BE49-F238E27FC236}">
                  <a16:creationId xmlns:a16="http://schemas.microsoft.com/office/drawing/2014/main" id="{E59A16A9-0D1E-DF12-BC98-4713E9ACBC43}"/>
                </a:ext>
              </a:extLst>
            </p:cNvPr>
            <p:cNvPicPr>
              <a:picLocks noChangeAspect="1"/>
            </p:cNvPicPr>
            <p:nvPr/>
          </p:nvPicPr>
          <p:blipFill>
            <a:blip r:embed="rId4"/>
            <a:stretch>
              <a:fillRect/>
            </a:stretch>
          </p:blipFill>
          <p:spPr>
            <a:xfrm>
              <a:off x="1097831" y="4017759"/>
              <a:ext cx="907038" cy="670419"/>
            </a:xfrm>
            <a:prstGeom prst="rect">
              <a:avLst/>
            </a:prstGeom>
          </p:spPr>
        </p:pic>
      </p:grpSp>
    </p:spTree>
    <p:extLst>
      <p:ext uri="{BB962C8B-B14F-4D97-AF65-F5344CB8AC3E}">
        <p14:creationId xmlns:p14="http://schemas.microsoft.com/office/powerpoint/2010/main" val="279655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DBFD0-A8A4-00A2-0433-46C0D8D56D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71103E-FF43-36C2-EA42-21871F1E987F}"/>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Proposed Methodology</a:t>
            </a:r>
          </a:p>
        </p:txBody>
      </p:sp>
      <p:pic>
        <p:nvPicPr>
          <p:cNvPr id="8" name="Picture 7">
            <a:extLst>
              <a:ext uri="{FF2B5EF4-FFF2-40B4-BE49-F238E27FC236}">
                <a16:creationId xmlns:a16="http://schemas.microsoft.com/office/drawing/2014/main" id="{F2324AC0-1B2A-D1D9-6487-6E3239EF1CEC}"/>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43B8D699-E7C2-1F12-863D-2C8DAB53B76B}"/>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86B39181-4B4C-465E-597F-C6861B43F354}"/>
              </a:ext>
            </a:extLst>
          </p:cNvPr>
          <p:cNvSpPr>
            <a:spLocks noGrp="1"/>
          </p:cNvSpPr>
          <p:nvPr>
            <p:ph type="sldNum" sz="quarter" idx="12"/>
          </p:nvPr>
        </p:nvSpPr>
        <p:spPr/>
        <p:txBody>
          <a:bodyPr/>
          <a:lstStyle/>
          <a:p>
            <a:fld id="{800901A6-15EF-443B-B467-F48A1127064F}" type="slidenum">
              <a:rPr lang="en-IN" smtClean="0"/>
              <a:pPr/>
              <a:t>6</a:t>
            </a:fld>
            <a:endParaRPr lang="en-IN"/>
          </a:p>
        </p:txBody>
      </p:sp>
      <p:pic>
        <p:nvPicPr>
          <p:cNvPr id="7" name="Picture 6">
            <a:extLst>
              <a:ext uri="{FF2B5EF4-FFF2-40B4-BE49-F238E27FC236}">
                <a16:creationId xmlns:a16="http://schemas.microsoft.com/office/drawing/2014/main" id="{74AEDC5C-30F1-04F7-D60D-E228ED19B40B}"/>
              </a:ext>
            </a:extLst>
          </p:cNvPr>
          <p:cNvPicPr>
            <a:picLocks noChangeAspect="1"/>
          </p:cNvPicPr>
          <p:nvPr/>
        </p:nvPicPr>
        <p:blipFill>
          <a:blip r:embed="rId3">
            <a:extLst>
              <a:ext uri="{28A0092B-C50C-407E-A947-70E740481C1C}">
                <a14:useLocalDpi xmlns:a14="http://schemas.microsoft.com/office/drawing/2010/main" val="0"/>
              </a:ext>
            </a:extLst>
          </a:blip>
          <a:srcRect t="15859"/>
          <a:stretch>
            <a:fillRect/>
          </a:stretch>
        </p:blipFill>
        <p:spPr>
          <a:xfrm>
            <a:off x="0" y="1713841"/>
            <a:ext cx="9144000" cy="4294276"/>
          </a:xfrm>
          <a:prstGeom prst="rect">
            <a:avLst/>
          </a:prstGeom>
        </p:spPr>
      </p:pic>
    </p:spTree>
    <p:extLst>
      <p:ext uri="{BB962C8B-B14F-4D97-AF65-F5344CB8AC3E}">
        <p14:creationId xmlns:p14="http://schemas.microsoft.com/office/powerpoint/2010/main" val="138243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D259-08D6-FCAF-C30A-CAE625D088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A3E1C-5A84-A67A-FEDD-4E52AA024BB5}"/>
              </a:ext>
            </a:extLst>
          </p:cNvPr>
          <p:cNvSpPr>
            <a:spLocks noGrp="1"/>
          </p:cNvSpPr>
          <p:nvPr>
            <p:ph idx="1"/>
          </p:nvPr>
        </p:nvSpPr>
        <p:spPr>
          <a:xfrm>
            <a:off x="422695" y="1163888"/>
            <a:ext cx="8307622" cy="2806794"/>
          </a:xfrm>
        </p:spPr>
        <p:txBody>
          <a:bodyPr>
            <a:normAutofit/>
          </a:bodyPr>
          <a:lstStyle/>
          <a:p>
            <a:pPr marL="0" indent="0">
              <a:buNone/>
            </a:pPr>
            <a:r>
              <a:rPr lang="en-IN" sz="1400" dirty="0"/>
              <a:t>Current Progress &amp; Results</a:t>
            </a:r>
          </a:p>
          <a:p>
            <a:pPr>
              <a:buSzPct val="130000"/>
            </a:pPr>
            <a:r>
              <a:rPr lang="en-IN" sz="1400" dirty="0"/>
              <a:t>STM32 development environment configured.</a:t>
            </a:r>
          </a:p>
          <a:p>
            <a:pPr>
              <a:buSzPct val="130000"/>
            </a:pPr>
            <a:r>
              <a:rPr lang="en-IN" sz="1400" dirty="0"/>
              <a:t>Physical Layer successfully developed.</a:t>
            </a:r>
          </a:p>
          <a:p>
            <a:pPr>
              <a:buSzPct val="130000"/>
            </a:pPr>
            <a:r>
              <a:rPr lang="en-IN" sz="1400" dirty="0"/>
              <a:t>CAN Driver implemented using bare-metal programming.</a:t>
            </a:r>
          </a:p>
          <a:p>
            <a:pPr>
              <a:buSzPct val="130000"/>
            </a:pPr>
            <a:r>
              <a:rPr lang="en-IN" sz="1400" dirty="0"/>
              <a:t>LIN Driver implemented using bare-metal programming.</a:t>
            </a:r>
          </a:p>
          <a:p>
            <a:pPr>
              <a:buSzPct val="130000"/>
            </a:pPr>
            <a:r>
              <a:rPr lang="en-IN" sz="1400" dirty="0"/>
              <a:t>Successful CAN frame transmission and reception.</a:t>
            </a:r>
          </a:p>
          <a:p>
            <a:pPr>
              <a:buSzPct val="130000"/>
            </a:pPr>
            <a:r>
              <a:rPr lang="en-IN" sz="1400" dirty="0"/>
              <a:t>Successful LIN frame transmission and reception.</a:t>
            </a:r>
          </a:p>
          <a:p>
            <a:pPr>
              <a:buSzPct val="130000"/>
            </a:pPr>
            <a:r>
              <a:rPr lang="en-IN" sz="1400" dirty="0"/>
              <a:t>Driver APIs modularized for portability.</a:t>
            </a:r>
          </a:p>
        </p:txBody>
      </p:sp>
      <p:sp>
        <p:nvSpPr>
          <p:cNvPr id="4" name="Rectangle 3">
            <a:extLst>
              <a:ext uri="{FF2B5EF4-FFF2-40B4-BE49-F238E27FC236}">
                <a16:creationId xmlns:a16="http://schemas.microsoft.com/office/drawing/2014/main" id="{5787CEB4-4970-F34B-5DA8-2789E5088ED9}"/>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Results</a:t>
            </a:r>
          </a:p>
        </p:txBody>
      </p:sp>
      <p:pic>
        <p:nvPicPr>
          <p:cNvPr id="8" name="Picture 7">
            <a:extLst>
              <a:ext uri="{FF2B5EF4-FFF2-40B4-BE49-F238E27FC236}">
                <a16:creationId xmlns:a16="http://schemas.microsoft.com/office/drawing/2014/main" id="{C3EF3C0E-E168-6EF2-866B-35FBD742B1B7}"/>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F76F35C0-5471-B3E4-AF99-57FB08595997}"/>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9A9273C8-FE49-06A5-B49B-29DA10ED1299}"/>
              </a:ext>
            </a:extLst>
          </p:cNvPr>
          <p:cNvSpPr>
            <a:spLocks noGrp="1"/>
          </p:cNvSpPr>
          <p:nvPr>
            <p:ph type="sldNum" sz="quarter" idx="12"/>
          </p:nvPr>
        </p:nvSpPr>
        <p:spPr/>
        <p:txBody>
          <a:bodyPr/>
          <a:lstStyle/>
          <a:p>
            <a:fld id="{800901A6-15EF-443B-B467-F48A1127064F}" type="slidenum">
              <a:rPr lang="en-IN" smtClean="0"/>
              <a:pPr/>
              <a:t>7</a:t>
            </a:fld>
            <a:endParaRPr lang="en-IN"/>
          </a:p>
        </p:txBody>
      </p:sp>
      <p:pic>
        <p:nvPicPr>
          <p:cNvPr id="7" name="Picture 6">
            <a:extLst>
              <a:ext uri="{FF2B5EF4-FFF2-40B4-BE49-F238E27FC236}">
                <a16:creationId xmlns:a16="http://schemas.microsoft.com/office/drawing/2014/main" id="{B44F96A0-011B-A052-62BC-B827896F8C29}"/>
              </a:ext>
            </a:extLst>
          </p:cNvPr>
          <p:cNvPicPr>
            <a:picLocks noChangeAspect="1"/>
          </p:cNvPicPr>
          <p:nvPr/>
        </p:nvPicPr>
        <p:blipFill>
          <a:blip r:embed="rId3"/>
          <a:stretch>
            <a:fillRect/>
          </a:stretch>
        </p:blipFill>
        <p:spPr>
          <a:xfrm>
            <a:off x="5166480" y="1620502"/>
            <a:ext cx="3563837" cy="1752661"/>
          </a:xfrm>
          <a:prstGeom prst="rect">
            <a:avLst/>
          </a:prstGeom>
        </p:spPr>
      </p:pic>
      <p:graphicFrame>
        <p:nvGraphicFramePr>
          <p:cNvPr id="11" name="Table 10">
            <a:extLst>
              <a:ext uri="{FF2B5EF4-FFF2-40B4-BE49-F238E27FC236}">
                <a16:creationId xmlns:a16="http://schemas.microsoft.com/office/drawing/2014/main" id="{A2E55831-C2AD-9A00-84F0-FE5AD3080C9E}"/>
              </a:ext>
            </a:extLst>
          </p:cNvPr>
          <p:cNvGraphicFramePr>
            <a:graphicFrameLocks noGrp="1"/>
          </p:cNvGraphicFramePr>
          <p:nvPr>
            <p:extLst>
              <p:ext uri="{D42A27DB-BD31-4B8C-83A1-F6EECF244321}">
                <p14:modId xmlns:p14="http://schemas.microsoft.com/office/powerpoint/2010/main" val="1873957016"/>
              </p:ext>
            </p:extLst>
          </p:nvPr>
        </p:nvGraphicFramePr>
        <p:xfrm>
          <a:off x="5607170" y="3815558"/>
          <a:ext cx="2698445" cy="2743200"/>
        </p:xfrm>
        <a:graphic>
          <a:graphicData uri="http://schemas.openxmlformats.org/drawingml/2006/table">
            <a:tbl>
              <a:tblPr/>
              <a:tblGrid>
                <a:gridCol w="1456055">
                  <a:extLst>
                    <a:ext uri="{9D8B030D-6E8A-4147-A177-3AD203B41FA5}">
                      <a16:colId xmlns:a16="http://schemas.microsoft.com/office/drawing/2014/main" val="1435420496"/>
                    </a:ext>
                  </a:extLst>
                </a:gridCol>
                <a:gridCol w="1242390">
                  <a:extLst>
                    <a:ext uri="{9D8B030D-6E8A-4147-A177-3AD203B41FA5}">
                      <a16:colId xmlns:a16="http://schemas.microsoft.com/office/drawing/2014/main" val="1449746902"/>
                    </a:ext>
                  </a:extLst>
                </a:gridCol>
              </a:tblGrid>
              <a:tr h="205106">
                <a:tc>
                  <a:txBody>
                    <a:bodyPr/>
                    <a:lstStyle/>
                    <a:p>
                      <a:pPr>
                        <a:buNone/>
                      </a:pPr>
                      <a:r>
                        <a:rPr lang="en-IN" sz="1200" b="1" dirty="0">
                          <a:solidFill>
                            <a:srgbClr val="010203"/>
                          </a:solidFill>
                        </a:rPr>
                        <a:t>Parameter</a:t>
                      </a:r>
                      <a:endParaRPr lang="en-IN" sz="1200" dirty="0">
                        <a:solidFill>
                          <a:srgbClr val="010203"/>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1B20"/>
                    </a:solidFill>
                  </a:tcPr>
                </a:tc>
                <a:tc>
                  <a:txBody>
                    <a:bodyPr/>
                    <a:lstStyle/>
                    <a:p>
                      <a:pPr algn="r">
                        <a:buNone/>
                      </a:pPr>
                      <a:r>
                        <a:rPr lang="en-IN" sz="1200" b="1" dirty="0">
                          <a:solidFill>
                            <a:srgbClr val="010203"/>
                          </a:solidFill>
                        </a:rPr>
                        <a:t>Observed Value</a:t>
                      </a:r>
                      <a:endParaRPr lang="en-IN" sz="1200" dirty="0">
                        <a:solidFill>
                          <a:srgbClr val="010203"/>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1B20"/>
                    </a:solidFill>
                  </a:tcPr>
                </a:tc>
                <a:extLst>
                  <a:ext uri="{0D108BD9-81ED-4DB2-BD59-A6C34878D82A}">
                    <a16:rowId xmlns:a16="http://schemas.microsoft.com/office/drawing/2014/main" val="450657674"/>
                  </a:ext>
                </a:extLst>
              </a:tr>
              <a:tr h="205106">
                <a:tc>
                  <a:txBody>
                    <a:bodyPr/>
                    <a:lstStyle/>
                    <a:p>
                      <a:pPr>
                        <a:buNone/>
                      </a:pPr>
                      <a:r>
                        <a:rPr lang="en-IN" sz="1200"/>
                        <a:t>Transmitted Packets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a:t>53</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27613"/>
                  </a:ext>
                </a:extLst>
              </a:tr>
              <a:tr h="205106">
                <a:tc>
                  <a:txBody>
                    <a:bodyPr/>
                    <a:lstStyle/>
                    <a:p>
                      <a:pPr>
                        <a:buNone/>
                      </a:pPr>
                      <a:r>
                        <a:rPr lang="en-IN" sz="1200"/>
                        <a:t>Received Packets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525</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6468902"/>
                  </a:ext>
                </a:extLst>
              </a:tr>
              <a:tr h="205106">
                <a:tc>
                  <a:txBody>
                    <a:bodyPr/>
                    <a:lstStyle/>
                    <a:p>
                      <a:pPr>
                        <a:buNone/>
                      </a:pPr>
                      <a:r>
                        <a:rPr lang="en-IN" sz="1200" dirty="0"/>
                        <a:t>Transmitted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a:t>424 Bytes</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4666818"/>
                  </a:ext>
                </a:extLst>
              </a:tr>
              <a:tr h="205106">
                <a:tc>
                  <a:txBody>
                    <a:bodyPr/>
                    <a:lstStyle/>
                    <a:p>
                      <a:pPr>
                        <a:buNone/>
                      </a:pPr>
                      <a:r>
                        <a:rPr lang="en-IN" sz="1200"/>
                        <a:t>Received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a:t>4200 Bytes</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4935518"/>
                  </a:ext>
                </a:extLst>
              </a:tr>
              <a:tr h="205106">
                <a:tc>
                  <a:txBody>
                    <a:bodyPr/>
                    <a:lstStyle/>
                    <a:p>
                      <a:pPr>
                        <a:buNone/>
                      </a:pPr>
                      <a:r>
                        <a:rPr lang="en-IN" sz="1200"/>
                        <a:t>Arbitration Lost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0</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2137591"/>
                  </a:ext>
                </a:extLst>
              </a:tr>
              <a:tr h="205106">
                <a:tc>
                  <a:txBody>
                    <a:bodyPr/>
                    <a:lstStyle/>
                    <a:p>
                      <a:pPr>
                        <a:buNone/>
                      </a:pPr>
                      <a:r>
                        <a:rPr lang="en-IN" sz="1200" dirty="0"/>
                        <a:t>Transmission Errors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8</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6954578"/>
                  </a:ext>
                </a:extLst>
              </a:tr>
              <a:tr h="205106">
                <a:tc>
                  <a:txBody>
                    <a:bodyPr/>
                    <a:lstStyle/>
                    <a:p>
                      <a:pPr>
                        <a:buNone/>
                      </a:pPr>
                      <a:r>
                        <a:rPr lang="en-IN" sz="1200"/>
                        <a:t>Minimum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143 cycles</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0512011"/>
                  </a:ext>
                </a:extLst>
              </a:tr>
              <a:tr h="205106">
                <a:tc>
                  <a:txBody>
                    <a:bodyPr/>
                    <a:lstStyle/>
                    <a:p>
                      <a:pPr>
                        <a:buNone/>
                      </a:pPr>
                      <a:r>
                        <a:rPr lang="en-IN" sz="1200"/>
                        <a:t>Average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a:t>193 cycles</a:t>
                      </a:r>
                      <a:endParaRPr lang="en-IN"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763128"/>
                  </a:ext>
                </a:extLst>
              </a:tr>
              <a:tr h="205106">
                <a:tc>
                  <a:txBody>
                    <a:bodyPr/>
                    <a:lstStyle/>
                    <a:p>
                      <a:pPr>
                        <a:buNone/>
                      </a:pPr>
                      <a:r>
                        <a:rPr lang="en-IN" sz="1200" dirty="0"/>
                        <a:t>Maximum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200" b="1" dirty="0"/>
                        <a:t>578 cycles</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1762050"/>
                  </a:ext>
                </a:extLst>
              </a:tr>
            </a:tbl>
          </a:graphicData>
        </a:graphic>
      </p:graphicFrame>
      <p:sp>
        <p:nvSpPr>
          <p:cNvPr id="13" name="TextBox 12">
            <a:extLst>
              <a:ext uri="{FF2B5EF4-FFF2-40B4-BE49-F238E27FC236}">
                <a16:creationId xmlns:a16="http://schemas.microsoft.com/office/drawing/2014/main" id="{6CD6F98B-A5B4-5259-6B82-BDE36B87C813}"/>
              </a:ext>
            </a:extLst>
          </p:cNvPr>
          <p:cNvSpPr txBox="1"/>
          <p:nvPr/>
        </p:nvSpPr>
        <p:spPr>
          <a:xfrm>
            <a:off x="2084668" y="3807776"/>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Hardware Setup</a:t>
            </a:r>
          </a:p>
        </p:txBody>
      </p:sp>
      <p:sp>
        <p:nvSpPr>
          <p:cNvPr id="15" name="TextBox 14">
            <a:extLst>
              <a:ext uri="{FF2B5EF4-FFF2-40B4-BE49-F238E27FC236}">
                <a16:creationId xmlns:a16="http://schemas.microsoft.com/office/drawing/2014/main" id="{D59086DB-61A4-CEB2-D2DD-D00B9C7AE7FD}"/>
              </a:ext>
            </a:extLst>
          </p:cNvPr>
          <p:cNvSpPr txBox="1"/>
          <p:nvPr/>
        </p:nvSpPr>
        <p:spPr>
          <a:xfrm>
            <a:off x="6019615" y="3482899"/>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CAN Driver Validation</a:t>
            </a:r>
          </a:p>
        </p:txBody>
      </p:sp>
      <p:sp>
        <p:nvSpPr>
          <p:cNvPr id="17" name="TextBox 16">
            <a:extLst>
              <a:ext uri="{FF2B5EF4-FFF2-40B4-BE49-F238E27FC236}">
                <a16:creationId xmlns:a16="http://schemas.microsoft.com/office/drawing/2014/main" id="{AB9769C0-C66A-9E0F-83BB-0213FAA3764D}"/>
              </a:ext>
            </a:extLst>
          </p:cNvPr>
          <p:cNvSpPr txBox="1"/>
          <p:nvPr/>
        </p:nvSpPr>
        <p:spPr>
          <a:xfrm>
            <a:off x="6047118" y="1270070"/>
            <a:ext cx="5089584"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Circuit Connection</a:t>
            </a:r>
          </a:p>
        </p:txBody>
      </p:sp>
      <p:pic>
        <p:nvPicPr>
          <p:cNvPr id="9" name="Picture 8">
            <a:extLst>
              <a:ext uri="{FF2B5EF4-FFF2-40B4-BE49-F238E27FC236}">
                <a16:creationId xmlns:a16="http://schemas.microsoft.com/office/drawing/2014/main" id="{1A7650B6-9BDA-D069-9CC3-24157FC448D4}"/>
              </a:ext>
            </a:extLst>
          </p:cNvPr>
          <p:cNvPicPr>
            <a:picLocks noChangeAspect="1"/>
          </p:cNvPicPr>
          <p:nvPr/>
        </p:nvPicPr>
        <p:blipFill>
          <a:blip r:embed="rId4" cstate="print">
            <a:extLst>
              <a:ext uri="{28A0092B-C50C-407E-A947-70E740481C1C}">
                <a14:useLocalDpi xmlns:a14="http://schemas.microsoft.com/office/drawing/2010/main" val="0"/>
              </a:ext>
            </a:extLst>
          </a:blip>
          <a:srcRect l="8538"/>
          <a:stretch>
            <a:fillRect/>
          </a:stretch>
        </p:blipFill>
        <p:spPr>
          <a:xfrm>
            <a:off x="167111" y="4184715"/>
            <a:ext cx="2758576" cy="2105565"/>
          </a:xfrm>
          <a:prstGeom prst="rect">
            <a:avLst/>
          </a:prstGeom>
        </p:spPr>
      </p:pic>
      <p:pic>
        <p:nvPicPr>
          <p:cNvPr id="14" name="Picture 13">
            <a:extLst>
              <a:ext uri="{FF2B5EF4-FFF2-40B4-BE49-F238E27FC236}">
                <a16:creationId xmlns:a16="http://schemas.microsoft.com/office/drawing/2014/main" id="{F0F9EB57-4938-DC00-6FE5-D1D06FC82434}"/>
              </a:ext>
            </a:extLst>
          </p:cNvPr>
          <p:cNvPicPr>
            <a:picLocks noChangeAspect="1"/>
          </p:cNvPicPr>
          <p:nvPr/>
        </p:nvPicPr>
        <p:blipFill>
          <a:blip r:embed="rId5" cstate="print">
            <a:extLst>
              <a:ext uri="{28A0092B-C50C-407E-A947-70E740481C1C}">
                <a14:useLocalDpi xmlns:a14="http://schemas.microsoft.com/office/drawing/2010/main" val="0"/>
              </a:ext>
            </a:extLst>
          </a:blip>
          <a:srcRect t="23821" b="11046"/>
          <a:stretch>
            <a:fillRect/>
          </a:stretch>
        </p:blipFill>
        <p:spPr>
          <a:xfrm>
            <a:off x="2965619" y="4184715"/>
            <a:ext cx="2424536" cy="2105565"/>
          </a:xfrm>
          <a:prstGeom prst="rect">
            <a:avLst/>
          </a:prstGeom>
        </p:spPr>
      </p:pic>
    </p:spTree>
    <p:extLst>
      <p:ext uri="{BB962C8B-B14F-4D97-AF65-F5344CB8AC3E}">
        <p14:creationId xmlns:p14="http://schemas.microsoft.com/office/powerpoint/2010/main" val="322243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4A3BE-BB82-9105-F735-3BFA8288A7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236278-95FE-9760-5171-401FF8A715DE}"/>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Results</a:t>
            </a:r>
          </a:p>
        </p:txBody>
      </p:sp>
      <p:pic>
        <p:nvPicPr>
          <p:cNvPr id="8" name="Picture 7">
            <a:extLst>
              <a:ext uri="{FF2B5EF4-FFF2-40B4-BE49-F238E27FC236}">
                <a16:creationId xmlns:a16="http://schemas.microsoft.com/office/drawing/2014/main" id="{2EC3494E-0802-1D3D-F137-3407F339F5E0}"/>
              </a:ext>
            </a:extLst>
          </p:cNvPr>
          <p:cNvPicPr>
            <a:picLocks noChangeAspect="1"/>
          </p:cNvPicPr>
          <p:nvPr/>
        </p:nvPicPr>
        <p:blipFill>
          <a:blip r:embed="rId2"/>
          <a:stretch>
            <a:fillRect/>
          </a:stretch>
        </p:blipFill>
        <p:spPr>
          <a:xfrm>
            <a:off x="7555598" y="0"/>
            <a:ext cx="1174719" cy="1152343"/>
          </a:xfrm>
          <a:prstGeom prst="rect">
            <a:avLst/>
          </a:prstGeom>
        </p:spPr>
      </p:pic>
      <p:sp>
        <p:nvSpPr>
          <p:cNvPr id="15" name="TextBox 14">
            <a:extLst>
              <a:ext uri="{FF2B5EF4-FFF2-40B4-BE49-F238E27FC236}">
                <a16:creationId xmlns:a16="http://schemas.microsoft.com/office/drawing/2014/main" id="{461F4978-CE26-1939-DC54-BE0B1D7B1A3A}"/>
              </a:ext>
            </a:extLst>
          </p:cNvPr>
          <p:cNvSpPr txBox="1"/>
          <p:nvPr/>
        </p:nvSpPr>
        <p:spPr>
          <a:xfrm>
            <a:off x="2552648" y="1187521"/>
            <a:ext cx="4572000" cy="307777"/>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Physical Layer Validation over CAN interface</a:t>
            </a:r>
          </a:p>
        </p:txBody>
      </p:sp>
      <p:pic>
        <p:nvPicPr>
          <p:cNvPr id="14" name="Picture 13">
            <a:extLst>
              <a:ext uri="{FF2B5EF4-FFF2-40B4-BE49-F238E27FC236}">
                <a16:creationId xmlns:a16="http://schemas.microsoft.com/office/drawing/2014/main" id="{C1CE978C-F79A-B02C-3A05-0CBA09CB07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024" y="1465087"/>
            <a:ext cx="8850702" cy="4978521"/>
          </a:xfrm>
          <a:prstGeom prst="rect">
            <a:avLst/>
          </a:prstGeom>
        </p:spPr>
      </p:pic>
    </p:spTree>
    <p:extLst>
      <p:ext uri="{BB962C8B-B14F-4D97-AF65-F5344CB8AC3E}">
        <p14:creationId xmlns:p14="http://schemas.microsoft.com/office/powerpoint/2010/main" val="32361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08979-7297-0AE7-A563-40F7642277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85BE7C-F2B7-0D48-2F8C-CA29B9961622}"/>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Timeline</a:t>
            </a:r>
          </a:p>
        </p:txBody>
      </p:sp>
      <p:pic>
        <p:nvPicPr>
          <p:cNvPr id="8" name="Picture 7">
            <a:extLst>
              <a:ext uri="{FF2B5EF4-FFF2-40B4-BE49-F238E27FC236}">
                <a16:creationId xmlns:a16="http://schemas.microsoft.com/office/drawing/2014/main" id="{641F04CB-75AA-670D-BA9C-8BAC936B295C}"/>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6BFEF74E-0B1B-E5AB-A6A5-7A708FDC9C65}"/>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1485C99E-D0F2-8415-7DF8-BE3860E8F84C}"/>
              </a:ext>
            </a:extLst>
          </p:cNvPr>
          <p:cNvSpPr>
            <a:spLocks noGrp="1"/>
          </p:cNvSpPr>
          <p:nvPr>
            <p:ph type="sldNum" sz="quarter" idx="12"/>
          </p:nvPr>
        </p:nvSpPr>
        <p:spPr/>
        <p:txBody>
          <a:bodyPr/>
          <a:lstStyle/>
          <a:p>
            <a:fld id="{800901A6-15EF-443B-B467-F48A1127064F}" type="slidenum">
              <a:rPr lang="en-IN" smtClean="0"/>
              <a:pPr/>
              <a:t>9</a:t>
            </a:fld>
            <a:endParaRPr lang="en-IN"/>
          </a:p>
        </p:txBody>
      </p:sp>
      <p:pic>
        <p:nvPicPr>
          <p:cNvPr id="9" name="Picture 8">
            <a:extLst>
              <a:ext uri="{FF2B5EF4-FFF2-40B4-BE49-F238E27FC236}">
                <a16:creationId xmlns:a16="http://schemas.microsoft.com/office/drawing/2014/main" id="{CCF2C355-2F97-0E4A-17BB-B002D90690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35452"/>
            <a:ext cx="9144000" cy="5103628"/>
          </a:xfrm>
          <a:prstGeom prst="rect">
            <a:avLst/>
          </a:prstGeom>
        </p:spPr>
      </p:pic>
    </p:spTree>
    <p:extLst>
      <p:ext uri="{BB962C8B-B14F-4D97-AF65-F5344CB8AC3E}">
        <p14:creationId xmlns:p14="http://schemas.microsoft.com/office/powerpoint/2010/main" val="2089784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D27B-DB6A-BAB2-447F-A5257B6A3B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7A4FD-ABB0-D937-27EB-91EFA4699769}"/>
              </a:ext>
            </a:extLst>
          </p:cNvPr>
          <p:cNvSpPr>
            <a:spLocks noGrp="1"/>
          </p:cNvSpPr>
          <p:nvPr>
            <p:ph idx="1"/>
          </p:nvPr>
        </p:nvSpPr>
        <p:spPr>
          <a:xfrm>
            <a:off x="521166" y="1828122"/>
            <a:ext cx="8101667" cy="5417386"/>
          </a:xfrm>
        </p:spPr>
        <p:txBody>
          <a:bodyPr>
            <a:normAutofit/>
          </a:bodyPr>
          <a:lstStyle/>
          <a:p>
            <a:r>
              <a:rPr lang="en-IN" sz="1800" dirty="0"/>
              <a:t>J. Park and B. W. Choi, “Design and Implementation Procedure for an Advanced Driver Assistance System Based on an Open Source AUTOSAR,” Electronics, vol. 8, no. 9, Art. no. 1025, 2019.</a:t>
            </a:r>
          </a:p>
          <a:p>
            <a:r>
              <a:rPr lang="en-IN" sz="1800" dirty="0"/>
              <a:t>R. Ingole and B. Eckhart, “Hardware Prototyping using </a:t>
            </a:r>
            <a:r>
              <a:rPr lang="en-IN" sz="1800" dirty="0" err="1"/>
              <a:t>FreeRTOS</a:t>
            </a:r>
            <a:r>
              <a:rPr lang="en-IN" sz="1800" dirty="0"/>
              <a:t> while Developing AUTOSAR Compliant Application Software using Simulink™,” Journal of Technological Innovations, vol. 3, no. 1, 2022.</a:t>
            </a:r>
          </a:p>
          <a:p>
            <a:r>
              <a:rPr lang="en-IN" sz="1800" dirty="0"/>
              <a:t>M. Becker et al., “Synthesizing Communication Middleware for Component-Based AUTOSAR Systems,” in Proc. IEEE 16th International Conference on Emerging Technologies and Factory Automation (ETFA), 2011.</a:t>
            </a:r>
          </a:p>
          <a:p>
            <a:r>
              <a:rPr lang="en-US" sz="1800" dirty="0"/>
              <a:t>M. Di Natale, H. Zeng, P. Giusto, and A. Ghosal, “Understanding and Using the Controller Area Network Communication Protocol”, Springer, 2012.</a:t>
            </a:r>
            <a:endParaRPr lang="en-IN" sz="1800" dirty="0"/>
          </a:p>
        </p:txBody>
      </p:sp>
      <p:sp>
        <p:nvSpPr>
          <p:cNvPr id="4" name="Rectangle 3">
            <a:extLst>
              <a:ext uri="{FF2B5EF4-FFF2-40B4-BE49-F238E27FC236}">
                <a16:creationId xmlns:a16="http://schemas.microsoft.com/office/drawing/2014/main" id="{750F8653-6CC0-FFBD-5FE9-653B1C01BD25}"/>
              </a:ext>
            </a:extLst>
          </p:cNvPr>
          <p:cNvSpPr/>
          <p:nvPr/>
        </p:nvSpPr>
        <p:spPr>
          <a:xfrm>
            <a:off x="0" y="0"/>
            <a:ext cx="9144000" cy="1135452"/>
          </a:xfrm>
          <a:prstGeom prst="rect">
            <a:avLst/>
          </a:prstGeom>
          <a:solidFill>
            <a:srgbClr val="B01B2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3000" b="1" dirty="0">
                <a:latin typeface="Arial" panose="020B0604020202020204" pitchFamily="34" charset="0"/>
                <a:cs typeface="Arial" panose="020B0604020202020204" pitchFamily="34" charset="0"/>
              </a:rPr>
              <a:t>  References </a:t>
            </a:r>
          </a:p>
        </p:txBody>
      </p:sp>
      <p:pic>
        <p:nvPicPr>
          <p:cNvPr id="8" name="Picture 7">
            <a:extLst>
              <a:ext uri="{FF2B5EF4-FFF2-40B4-BE49-F238E27FC236}">
                <a16:creationId xmlns:a16="http://schemas.microsoft.com/office/drawing/2014/main" id="{D10E248B-BD05-70F6-96CB-6B0BEA560977}"/>
              </a:ext>
            </a:extLst>
          </p:cNvPr>
          <p:cNvPicPr>
            <a:picLocks noChangeAspect="1"/>
          </p:cNvPicPr>
          <p:nvPr/>
        </p:nvPicPr>
        <p:blipFill>
          <a:blip r:embed="rId2"/>
          <a:stretch>
            <a:fillRect/>
          </a:stretch>
        </p:blipFill>
        <p:spPr>
          <a:xfrm>
            <a:off x="7555598" y="0"/>
            <a:ext cx="1174719" cy="1152343"/>
          </a:xfrm>
          <a:prstGeom prst="rect">
            <a:avLst/>
          </a:prstGeom>
        </p:spPr>
      </p:pic>
      <p:sp>
        <p:nvSpPr>
          <p:cNvPr id="5" name="Date Placeholder 4">
            <a:extLst>
              <a:ext uri="{FF2B5EF4-FFF2-40B4-BE49-F238E27FC236}">
                <a16:creationId xmlns:a16="http://schemas.microsoft.com/office/drawing/2014/main" id="{7B81BAC2-19A5-4591-5268-47938C924D9E}"/>
              </a:ext>
            </a:extLst>
          </p:cNvPr>
          <p:cNvSpPr>
            <a:spLocks noGrp="1"/>
          </p:cNvSpPr>
          <p:nvPr>
            <p:ph type="dt" sz="half" idx="10"/>
          </p:nvPr>
        </p:nvSpPr>
        <p:spPr/>
        <p:txBody>
          <a:bodyPr/>
          <a:lstStyle/>
          <a:p>
            <a:fld id="{011255CE-823A-4B9E-BBF4-97C1242F3F9E}" type="datetime1">
              <a:rPr lang="en-IN" smtClean="0"/>
              <a:pPr/>
              <a:t>07-08-2026</a:t>
            </a:fld>
            <a:endParaRPr lang="en-IN" dirty="0"/>
          </a:p>
        </p:txBody>
      </p:sp>
      <p:sp>
        <p:nvSpPr>
          <p:cNvPr id="6" name="Slide Number Placeholder 5">
            <a:extLst>
              <a:ext uri="{FF2B5EF4-FFF2-40B4-BE49-F238E27FC236}">
                <a16:creationId xmlns:a16="http://schemas.microsoft.com/office/drawing/2014/main" id="{D09A4DDE-29F6-8122-1B87-A9D02909190D}"/>
              </a:ext>
            </a:extLst>
          </p:cNvPr>
          <p:cNvSpPr>
            <a:spLocks noGrp="1"/>
          </p:cNvSpPr>
          <p:nvPr>
            <p:ph type="sldNum" sz="quarter" idx="12"/>
          </p:nvPr>
        </p:nvSpPr>
        <p:spPr/>
        <p:txBody>
          <a:bodyPr/>
          <a:lstStyle/>
          <a:p>
            <a:fld id="{800901A6-15EF-443B-B467-F48A1127064F}" type="slidenum">
              <a:rPr lang="en-IN" smtClean="0"/>
              <a:pPr/>
              <a:t>10</a:t>
            </a:fld>
            <a:endParaRPr lang="en-IN"/>
          </a:p>
        </p:txBody>
      </p:sp>
    </p:spTree>
    <p:extLst>
      <p:ext uri="{BB962C8B-B14F-4D97-AF65-F5344CB8AC3E}">
        <p14:creationId xmlns:p14="http://schemas.microsoft.com/office/powerpoint/2010/main" val="12234350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1594</TotalTime>
  <Words>833</Words>
  <Application>Microsoft Office PowerPoint</Application>
  <PresentationFormat>On-screen Show (4:3)</PresentationFormat>
  <Paragraphs>103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Research Scholar</dc:creator>
  <cp:lastModifiedBy>Hariharan S</cp:lastModifiedBy>
  <cp:revision>223</cp:revision>
  <dcterms:created xsi:type="dcterms:W3CDTF">2024-08-09T05:17:06Z</dcterms:created>
  <dcterms:modified xsi:type="dcterms:W3CDTF">2026-08-07T07:49:36Z</dcterms:modified>
</cp:coreProperties>
</file>